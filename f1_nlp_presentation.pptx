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56032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6528816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🏎️  F1 Team Radio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C00B"/>
                </a:solidFill>
              </a:rPr>
              <a:t>End-to-End Natural Language Processing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88920"/>
            <a:ext cx="5029200" cy="5029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Student: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Shashwat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935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Programme: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5935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M.Sc. Machine Learning &amp; Data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96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Institution: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4169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Hochschule Aalen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457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Course: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4573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Natural Language Processing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188720"/>
            <a:ext cx="3337560" cy="5212080"/>
          </a:xfrm>
          <a:prstGeom prst="rect">
            <a:avLst/>
          </a:prstGeom>
          <a:solidFill>
            <a:srgbClr val="1A1A2E"/>
          </a:solidFill>
          <a:ln w="2286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13716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Project at a Glance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87451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18,574 real radio messages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42315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3 Grand Prix races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97179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13-phase NLP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52043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6 ML / DL models trained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06907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Custom NER model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61771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Full RAG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5166359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✦ 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📋 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188720"/>
            <a:ext cx="5577840" cy="53035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719072"/>
            <a:ext cx="5303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1.  What is the Data?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2.  How We Collected It (Web Scraping)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3.  Data Extraction &amp; Cleaning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4.  Vocabulary Stats &amp; TF-IDF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5.  Sparse Matrix Optimisation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6.  Tokenization &amp; Lemmatization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7.  Vectorization (BoW / TF-IDF)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623560" cy="53035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984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5349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8.  Text Classification (NB · LogReg · SVM)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9.  Custom Sentiment Lexicon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10. CBOW Word Embeddings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11. MLP Neural Network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12. RNN &amp; LSTM Sequence Models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13. Custom NER Training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14. RAG Pipeline &amp; Final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📡  What is the Data?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Real Formula 1 team radio transcripts — driver to pit wall communications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Barcelona 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Spain, May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~6,200 messages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Monaco 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Monaco, May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~5,800 messages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47888" y="1371600"/>
            <a:ext cx="3749039" cy="1691640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🏁  Canadian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📍 Montreal, Jun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2677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📻 ~6,574 messages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51B23"/>
                </a:solidFill>
              </a:rPr>
              <a:t>18,574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Total Messages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4EA8DA"/>
                </a:solidFill>
              </a:rPr>
              <a:t>20+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Unique Drivers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C00B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Grand Prix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0576" y="3246120"/>
            <a:ext cx="2651760" cy="1234440"/>
          </a:xfrm>
          <a:prstGeom prst="rect">
            <a:avLst/>
          </a:prstGeom>
          <a:solidFill>
            <a:srgbClr val="1E1E3A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32918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50FA7B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9776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Categories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4645152"/>
            <a:ext cx="11494008" cy="20116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4754880"/>
            <a:ext cx="11219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What is Team Radio?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5175504"/>
            <a:ext cx="112196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Encrypted voice messages between driver and race engineer during live races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Contains race-critical info: pit strategy, lap times, gap to rivals, car issues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Publicly released by FIA after each session — real, unscripted F1 data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Example → Verstappen: "Box box. Soft tyres. Gap to P2 is 3.2 seconds."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🕷️  How We Got the Data — Web Scraping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BeautifulSoup crawler on the AutoLAP F1 Radio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63040"/>
            <a:ext cx="217627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7276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1. Check robots.txt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6002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463040"/>
            <a:ext cx="217627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9776" y="157276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2. Archive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16002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463040"/>
            <a:ext cx="217627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57276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3. Session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6002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44384" y="1463040"/>
            <a:ext cx="217627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44384" y="157276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4. Driver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38944" y="16002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76688" y="1463040"/>
            <a:ext cx="217627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76688" y="157276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51B23"/>
                </a:solidFill>
              </a:rPr>
              <a:t>5. DataFrame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377440"/>
            <a:ext cx="3749039" cy="4251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487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Why robots.txt first?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2907792"/>
            <a:ext cx="3474719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Ethical requirement — checks if website permits automated scraping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AutoLAP archive explicitly allows bots in robots.txt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We always respect rate limits between requests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377440"/>
            <a:ext cx="3749039" cy="4251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2487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How the crawler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907792"/>
            <a:ext cx="3474719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Navigates: Archive → Session list → Per-driver transcript page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Extracts: driver name, lap number, radio message text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Stores every message as a row in a pandas DataFrame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7888" y="2377440"/>
            <a:ext cx="3749039" cy="4251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2487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Result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907792"/>
            <a:ext cx="3474719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18,574 rows collected across 3 Grand Prix weekends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Columns: driver_name, grand_prix, lap, message_text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No existing F1 NLP dataset — we built our own from scratch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🧹  Data Extraction &amp; Cleaning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Turning raw HTML into a clean, analysis-ready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417320"/>
            <a:ext cx="2176272" cy="685800"/>
          </a:xfrm>
          <a:prstGeom prst="rect">
            <a:avLst/>
          </a:prstGeom>
          <a:solidFill>
            <a:srgbClr val="1A1A2E"/>
          </a:solidFill>
          <a:ln w="1651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2704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888AA"/>
                </a:solidFill>
              </a:rPr>
              <a:t>1. Raw 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5544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2176272" cy="685800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9776" y="152704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2. Parse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15544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417320"/>
            <a:ext cx="2176272" cy="685800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3. Remove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5544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44384" y="1417320"/>
            <a:ext cx="2176272" cy="685800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44384" y="152704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4. Lemmatize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38944" y="15544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76688" y="1417320"/>
            <a:ext cx="2176272" cy="685800"/>
          </a:xfrm>
          <a:prstGeom prst="rect">
            <a:avLst/>
          </a:prstGeom>
          <a:solidFill>
            <a:srgbClr val="1A1A2E"/>
          </a:solidFill>
          <a:ln w="1651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76688" y="1527048"/>
            <a:ext cx="2176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0FA7B"/>
                </a:solidFill>
              </a:rPr>
              <a:t>5. Clean CSV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304288"/>
            <a:ext cx="11494008" cy="96012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3957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888AA"/>
                </a:solidFill>
              </a:rPr>
              <a:t>Before cleaning: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2697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"He is pushing on softs, tyres are degrading badly!! 2.3s gap."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39572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After cleaning: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6974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0FA7B"/>
                </a:solidFill>
              </a:rPr>
              <a:t>"push soft tyre degrade bad gap"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3474720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538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1. Lowercase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39319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Convert all text to lowercase to unify vocabulary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4498848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" y="456285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2. Remove punctuation &amp; numbers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Strip non-alphabetic characters with regex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5522976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5869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3. Tokenize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" y="59801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Split into individual words using spaCy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3474720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3538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4. Remove stopwords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39319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Drop high-frequency low-meaning words: the, is, a, on...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5352" y="4498848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56285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5. Lemmatize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49560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Reduce to base form: 'pushing' → 'push', 'tyres' → 'tyre'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5352" y="5522976"/>
            <a:ext cx="5623560" cy="868680"/>
          </a:xfrm>
          <a:prstGeom prst="rect">
            <a:avLst/>
          </a:prstGeom>
          <a:solidFill>
            <a:srgbClr val="1A1A2E"/>
          </a:solidFill>
          <a:ln w="889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9944" y="558698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6. Store clean column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9944" y="59801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Save result in df['clean_message'] alongside original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Phase 2 — Vocabulary Statistics &amp; Zipf's 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Understanding word frequency distributions in our F1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623560" cy="24231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Zipf's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Word frequency is inversely proportional to its rank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Rank 1 word appears ~2× more than rank 2, ~3× more than rank 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Verified this holds true in our F1 radio corpus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Plotted log-log graph: frequency vs rank = straight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71600"/>
            <a:ext cx="5623560" cy="24231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48132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Shannon Entropy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90195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Measures the information diversity of our vocabulary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High entropy = many diverse words (complex language)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F1 radio has moderate entropy — specialised but varied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Formula: H = -Σ P(word) × log₂ P(word)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977640"/>
            <a:ext cx="5623560" cy="24231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408736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Luhn's Cuts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50799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Remove ultra-frequent words (stopwords: 'the', 'is')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Remove ultra-rare words (appear &lt; 2 times = noise)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Keep the middle band — words with highest information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This middle band is used for TF-IDF and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977640"/>
            <a:ext cx="5623560" cy="24231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08736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TF-IDF (from scratch)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507992"/>
            <a:ext cx="5349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TF = how often a word appears in this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IDF = how rare the word is across all messages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TF-IDF = TF × IDF → high score = important and rare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Implemented manually before using scikit-learn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💾  Phase 3 — Sparse Matrices &amp; Memory Optimisation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Why we don't store the full document-term matrix as a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11494008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</a:rPr>
              <a:t>The Problem:  18,574 messages × 5,000 vocabulary words = 92 million cells. But each short message uses only ~6 words → 99.9% of cells are ZERO.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2331720"/>
            <a:ext cx="3749039" cy="33375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44144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Dense Matrix 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62072"/>
            <a:ext cx="347471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Stores every single cell including all zeros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Memory: ~372 MB for our corpus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Most of that memory is wasted storing zeros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Slow: multiplying zeros adds no information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5760720"/>
            <a:ext cx="3749039" cy="777240"/>
          </a:xfrm>
          <a:prstGeom prst="rect">
            <a:avLst/>
          </a:prstGeom>
          <a:solidFill>
            <a:srgbClr val="121228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58338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51B23"/>
                </a:solidFill>
              </a:rPr>
              <a:t>Memory used: 372 MB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331720"/>
            <a:ext cx="3749039" cy="33375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44144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CSR Sparse Matrix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862072"/>
            <a:ext cx="347471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Stores only the non-zero values (only ~276K exist)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Memory: ~12 MB — a 30× memory saving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3 arrays: data[ ], column indices[ ], row pointers[ ]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Fast for row operations (looking up one document)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5760720"/>
            <a:ext cx="3749039" cy="777240"/>
          </a:xfrm>
          <a:prstGeom prst="rect">
            <a:avLst/>
          </a:prstGeom>
          <a:solidFill>
            <a:srgbClr val="121228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58338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4EA8DA"/>
                </a:solidFill>
              </a:rPr>
              <a:t>Memory used: 12 MB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2331720"/>
            <a:ext cx="3749039" cy="33375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244144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CSC Sparse Matrix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862072"/>
            <a:ext cx="3474719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Same data stored in column-major format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Fast for column operations (selecting one feature/word)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Used during feature selection and vocabulary analysis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scikit-learn uses CSR/CSC internally for all classifiers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8" y="5760720"/>
            <a:ext cx="3749039" cy="777240"/>
          </a:xfrm>
          <a:prstGeom prst="rect">
            <a:avLst/>
          </a:prstGeom>
          <a:solidFill>
            <a:srgbClr val="121228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583387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C00B"/>
                </a:solidFill>
              </a:rPr>
              <a:t>Memory used: 12 MB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🔤  Phase 4 — Tokenization, Stemming &amp; Lemmatization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Reducing raw text to its essential meaning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256032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8132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Original 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35808" y="1371600"/>
            <a:ext cx="882396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90472"/>
            <a:ext cx="85770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"He is pushing on soft tyres, they are degrading."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194560"/>
            <a:ext cx="2560320" cy="676656"/>
          </a:xfrm>
          <a:prstGeom prst="rect">
            <a:avLst/>
          </a:prstGeom>
          <a:solidFill>
            <a:srgbClr val="202035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30428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CCCCC"/>
                </a:solidFill>
              </a:rPr>
              <a:t>Tokenized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194560"/>
            <a:ext cx="8823960" cy="676656"/>
          </a:xfrm>
          <a:prstGeom prst="rect">
            <a:avLst/>
          </a:prstGeom>
          <a:solidFill>
            <a:srgbClr val="202035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313432"/>
            <a:ext cx="85770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["He", "is", "pushing", "on", "soft", "tyres", "they", "are", "degrading"]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3017520"/>
            <a:ext cx="256032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12724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EA8DA"/>
                </a:solidFill>
              </a:rPr>
              <a:t>Stemmed (Porter)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3017520"/>
            <a:ext cx="882396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3136392"/>
            <a:ext cx="85770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A8DA"/>
                </a:solidFill>
              </a:rPr>
              <a:t>["he", "is", "push", "on", "soft", "tyre", "they", "are", "degrad"]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840480"/>
            <a:ext cx="2560320" cy="676656"/>
          </a:xfrm>
          <a:prstGeom prst="rect">
            <a:avLst/>
          </a:prstGeom>
          <a:solidFill>
            <a:srgbClr val="202035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95020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Lemmatized (spaCy)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5808" y="3840480"/>
            <a:ext cx="8823960" cy="676656"/>
          </a:xfrm>
          <a:prstGeom prst="rect">
            <a:avLst/>
          </a:prstGeom>
          <a:solidFill>
            <a:srgbClr val="202035"/>
          </a:solidFill>
          <a:ln w="7620">
            <a:solidFill>
              <a:srgbClr val="33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3959352"/>
            <a:ext cx="85770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00B"/>
                </a:solidFill>
              </a:rPr>
              <a:t>["he", "be", "push", "on", "soft", "tyre", "they", "be", "degrade"]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4663440"/>
            <a:ext cx="256032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4773168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50FA7B"/>
                </a:solidFill>
              </a:rPr>
              <a:t>After Stopword Removal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5808" y="4663440"/>
            <a:ext cx="8823960" cy="676656"/>
          </a:xfrm>
          <a:prstGeom prst="rect">
            <a:avLst/>
          </a:prstGeom>
          <a:solidFill>
            <a:srgbClr val="1A1A2E"/>
          </a:solidFill>
          <a:ln w="762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4782312"/>
            <a:ext cx="85770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</a:rPr>
              <a:t>["push", "soft", "tyre", "degrade"]  ← final clean tokens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5669280"/>
            <a:ext cx="3749039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57424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A8DA"/>
                </a:solidFill>
              </a:rPr>
              <a:t>Tokenization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60807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Splits raw text into individual word/punctuation units. The very first step in any NLP pipeline — computers cannot read sentences, only tokens.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5669280"/>
            <a:ext cx="3749039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57424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Stemming vs Lemmatization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60807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Stemming chops suffixes (fast but imprecise). Lemmatization uses a vocabulary lookup to find the true base form — linguistically correct.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7888" y="5669280"/>
            <a:ext cx="3749039" cy="1005840"/>
          </a:xfrm>
          <a:prstGeom prst="rect">
            <a:avLst/>
          </a:prstGeom>
          <a:solidFill>
            <a:srgbClr val="1A1A2E"/>
          </a:solidFill>
          <a:ln w="127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574243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FA7B"/>
                </a:solidFill>
              </a:rPr>
              <a:t>Why Remove Stopwords?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6080760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Words like 'the', 'is', 'on' appear in every message but carry no unique meaning. Removing them lets classifiers focus on informative words like 'push', 'tyre', 'gap'.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🔢  Phase 5 — Vectorization: Turning Words into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ML models cannot process text — every word must become a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9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3749039" cy="3977639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One-Hot Encoding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3474719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Assigns a binary column to each unique driver name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Vector: 1 if this driver spoke, 0 otherwise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Limitation: no frequency, no meaning, very high dimension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Used only for driver identity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5440680"/>
            <a:ext cx="3749039" cy="777240"/>
          </a:xfrm>
          <a:prstGeom prst="rect">
            <a:avLst/>
          </a:prstGeom>
          <a:solidFill>
            <a:srgbClr val="121228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5513832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EA8DA"/>
                </a:solidFill>
              </a:rPr>
              <a:t>❌  No frequency, no meaning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749039" cy="3977639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48132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Bag of Words (BoW)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901952"/>
            <a:ext cx="3474719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Counts how many times each word appears in a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Vocabulary of 1,000 words → 1,000-dimensional vector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Captures frequency but treats all words as equally important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Ignores word order completely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5440680"/>
            <a:ext cx="3749039" cy="777240"/>
          </a:xfrm>
          <a:prstGeom prst="rect">
            <a:avLst/>
          </a:prstGeom>
          <a:solidFill>
            <a:srgbClr val="121228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5513832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00B"/>
                </a:solidFill>
              </a:rPr>
              <a:t>⚠️  No word rarity weighting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1371600"/>
            <a:ext cx="3749039" cy="3977639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48132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TF-IDF (used for all classifiers)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1901952"/>
            <a:ext cx="3474719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TF: how often word appears in THIS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IDF: penalises words that appear in TOO MANY messages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Result: common words ('the') score near zero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Domain words ('degrade', 'strat') score high → best features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5440680"/>
            <a:ext cx="3749039" cy="777240"/>
          </a:xfrm>
          <a:prstGeom prst="rect">
            <a:avLst/>
          </a:prstGeom>
          <a:solidFill>
            <a:srgbClr val="121228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5513832"/>
            <a:ext cx="3520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0FA7B"/>
                </a:solidFill>
              </a:rPr>
              <a:t>✅  Best representation — used everywhere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6355080"/>
            <a:ext cx="11494008" cy="347472"/>
          </a:xfrm>
          <a:prstGeom prst="rect">
            <a:avLst/>
          </a:prstGeom>
          <a:solidFill>
            <a:srgbClr val="0A150A"/>
          </a:solidFill>
          <a:ln w="127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8251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0FA7B"/>
                </a:solidFill>
              </a:rPr>
              <a:t>✅  TF-IDF (max 2,500 features) was used as input for Naive Bayes, Logistic Regression, and SVM classifiers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🤖  Phase 6 — Text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Training 3 classical ML classifiers on TF-IDF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029200" cy="1965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Message Categories (auto-labelled)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Strategy — box, pit, mode, strat, tyre compound mentions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Position_Gap — gap, interval, ahead, behind, p1/p2/p3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Emotional — wtf, why, no, impossible, angry expressions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Technical — everything else (hydraulics, engine, DRS)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371600"/>
            <a:ext cx="6263640" cy="19659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1481328"/>
            <a:ext cx="5989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Training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01952"/>
            <a:ext cx="5989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80% of messages for training → 14,859 messages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20% of messages for testing → 3,715 messages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Stratified split → same category ratio in both sets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Same TF-IDF features used for all 3 classifiers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520440"/>
            <a:ext cx="3749039" cy="22402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630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CCCC"/>
                </a:solidFill>
              </a:rPr>
              <a:t>Naive Bayes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050792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Probabilistic baseline model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Assumes words are independent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Fast to train, low memory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5852160"/>
            <a:ext cx="3749039" cy="804672"/>
          </a:xfrm>
          <a:prstGeom prst="rect">
            <a:avLst/>
          </a:prstGeom>
          <a:solidFill>
            <a:srgbClr val="1A1A30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94360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CCCCC"/>
                </a:solidFill>
              </a:rPr>
              <a:t>Accuracy:  79.94%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520440"/>
            <a:ext cx="3749039" cy="22402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630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Logistic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050792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Linear probability model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Works well on sparse TF-IDF data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Reliable, interpretable weights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852160"/>
            <a:ext cx="3749039" cy="804672"/>
          </a:xfrm>
          <a:prstGeom prst="rect">
            <a:avLst/>
          </a:prstGeom>
          <a:solidFill>
            <a:srgbClr val="1A1A30"/>
          </a:solidFill>
          <a:ln w="190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594360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4EA8DA"/>
                </a:solidFill>
              </a:rPr>
              <a:t>Accuracy:  92.21%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3520440"/>
            <a:ext cx="3749039" cy="22402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3630168"/>
            <a:ext cx="3474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Linear SVM  ✅ 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4050792"/>
            <a:ext cx="34747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Finds optimal separating hyperplane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Maximises margin between categories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◆  Best performer on text classification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5852160"/>
            <a:ext cx="3749039" cy="804672"/>
          </a:xfrm>
          <a:prstGeom prst="rect">
            <a:avLst/>
          </a:prstGeom>
          <a:solidFill>
            <a:srgbClr val="1A1A30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594360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51B23"/>
                </a:solidFill>
              </a:rPr>
              <a:t>Accuracy:  93.81%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💬  Phase 6b — Custom F1 Sentiment Lexicon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Why standard sentiment tools fail on racing radio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11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20116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Why a custom lexicon?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VADER scores "box box" as NEUTRAL — completely wrong in F1 context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Standard tools trained on Twitter/Amazon — not race tracks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"p1" = race lead position = very positive for 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"mode 7" = specific engine instruction = neutral/technical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We hand-crafted scores for F1-specific words and phrases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20116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8132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01952"/>
            <a:ext cx="5440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Each F1 word/phrase is assigned a score from -2.0 to +2.0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Sentiment score = sum of matched word scores in a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Score &gt; 0 → positive / celebratory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Score &lt; 0 → frustrated / angry / critical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Used to find patterns: when do drivers get most frustrated?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566160"/>
            <a:ext cx="11494008" cy="384048"/>
          </a:xfrm>
          <a:prstGeom prst="rect">
            <a:avLst/>
          </a:prstGeom>
          <a:solidFill>
            <a:srgbClr val="1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  Score Examples from the Corpus: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4023360"/>
            <a:ext cx="1051560" cy="457200"/>
          </a:xfrm>
          <a:prstGeom prst="rect">
            <a:avLst/>
          </a:prstGeom>
          <a:solidFill>
            <a:srgbClr val="121225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06908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0FA7B"/>
                </a:solidFill>
              </a:rPr>
              <a:t>+2.0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0965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"Yes yes yes! P1! We won!"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553712"/>
            <a:ext cx="1051560" cy="457200"/>
          </a:xfrm>
          <a:prstGeom prst="rect">
            <a:avLst/>
          </a:prstGeom>
          <a:solidFill>
            <a:srgbClr val="121225"/>
          </a:solidFill>
          <a:ln w="15240">
            <a:solidFill>
              <a:srgbClr val="A0F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943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0F0A0"/>
                </a:solidFill>
              </a:rPr>
              <a:t>+1.5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626864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"Great lap, keep pushing!"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5084064"/>
            <a:ext cx="1051560" cy="457200"/>
          </a:xfrm>
          <a:prstGeom prst="rect">
            <a:avLst/>
          </a:prstGeom>
          <a:solidFill>
            <a:srgbClr val="121225"/>
          </a:solidFill>
          <a:ln w="1524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5129784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CCCCC"/>
                </a:solidFill>
              </a:rPr>
              <a:t> 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515721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"Box box, switch to medium tyres."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5614416"/>
            <a:ext cx="1051560" cy="457200"/>
          </a:xfrm>
          <a:prstGeom prst="rect">
            <a:avLst/>
          </a:prstGeom>
          <a:solidFill>
            <a:srgbClr val="121225"/>
          </a:solidFill>
          <a:ln w="15240">
            <a:solidFill>
              <a:srgbClr val="FFA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566013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A060"/>
                </a:solidFill>
              </a:rPr>
              <a:t>-1.0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6875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"Problem with the car, losing pace."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6144768"/>
            <a:ext cx="1051560" cy="457200"/>
          </a:xfrm>
          <a:prstGeom prst="rect">
            <a:avLst/>
          </a:prstGeom>
          <a:solidFill>
            <a:srgbClr val="121225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619048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51B23"/>
                </a:solidFill>
              </a:rPr>
              <a:t>-2.0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621792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"WTF is going on?! This is impossible!"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🧠  Phase 7 — CBOW Word Embeddings (PyTorch)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Teaching the model that 'box' and 'pit' mean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26060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The Problem with TF-IDF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"box" and "pit" are in completely different dimensions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TF-IDF has no concept of word similarity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Every word is treated as completely unrelated to every other word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This limits the model's ability to generalise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Solution: train dense vector representations (embeddings)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26060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8132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How CBOW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01952"/>
            <a:ext cx="5440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CBOW = Continuous Bag of Words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Given 4 surrounding context words → predict the centre word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Repeated over millions of examples in the corpus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The embedding layer learns: similar context = similar meaning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Result: 50-dimensional dense vector per 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4160520"/>
            <a:ext cx="272491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4270248"/>
            <a:ext cx="2724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1. 4 Context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0672" y="42976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28416" y="4160520"/>
            <a:ext cx="272491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8416" y="4270248"/>
            <a:ext cx="2724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2. Embedding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1616" y="42976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160520"/>
            <a:ext cx="272491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4270248"/>
            <a:ext cx="2724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3. Sum &amp; ReLU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42976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90304" y="4160520"/>
            <a:ext cx="2724912" cy="713232"/>
          </a:xfrm>
          <a:prstGeom prst="rect">
            <a:avLst/>
          </a:prstGeom>
          <a:solidFill>
            <a:srgbClr val="1A1A2E"/>
          </a:solidFill>
          <a:ln w="1651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0304" y="4270248"/>
            <a:ext cx="2724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0FA7B"/>
                </a:solidFill>
              </a:rPr>
              <a:t>4. Predict Centre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5074920"/>
            <a:ext cx="11494008" cy="1572768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5184648"/>
            <a:ext cx="11219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Cosine Similarity Results After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605272"/>
            <a:ext cx="1121968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"box" ↔ "pit"     →  0.83   |   "soft" ↔ "tyre"    →  0.79   |   "push" ↔ "go"    →  0.71   |   "gap" ↔ "behind"  →  0.68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🔬  Phase 8 — Feed-Forward Neural Network (MLP)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Moving from classical ML to deep learning classifiers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19202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Why a Neural Network?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Classical ML (SVM, LogReg) uses linear decision boundaries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Neural networks learn non-linear feature combinations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Can capture complex interactions between words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Dropout layer prevents overfitting on training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356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53619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2,500 TF-IDF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139696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331720"/>
            <a:ext cx="571500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39572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Hidden Layer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49631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256 neurons  +  ReLU activation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099816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291840"/>
            <a:ext cx="571500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5584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8888AA"/>
                </a:solidFill>
              </a:rPr>
              <a:t>Dropout (0.3)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45643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Randomly disables 30% of neurons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059936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251960"/>
            <a:ext cx="571500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Hidden Layer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1655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128 neurons  +  ReLU activation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020056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1B23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5212080"/>
            <a:ext cx="5715000" cy="749808"/>
          </a:xfrm>
          <a:prstGeom prst="rect">
            <a:avLst/>
          </a:prstGeom>
          <a:solidFill>
            <a:srgbClr val="1A1A2E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50FA7B"/>
                </a:solidFill>
              </a:rPr>
              <a:t>Output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376672"/>
            <a:ext cx="3063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4 category scores  +  Softmax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456432"/>
            <a:ext cx="5577840" cy="18288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566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Training Details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986784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Optimizer: Adam (lr = 0.001)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Loss: Cross-Entropy Loss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Batch size: 64  |  Epochs: 15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80/20 train-test split, same as classical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5440680"/>
            <a:ext cx="5577840" cy="1234440"/>
          </a:xfrm>
          <a:prstGeom prst="rect">
            <a:avLst/>
          </a:prstGeom>
          <a:solidFill>
            <a:srgbClr val="0A180A"/>
          </a:solidFill>
          <a:ln w="254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5650992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50FA7B"/>
                </a:solidFill>
              </a:rPr>
              <a:t>MLP Accuracy:  92.57%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🔁  Phase 9 — Sequence Models: RNN &amp; LSTM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Processing text as a sequence, not just a bag of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20574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Why Sequence Models?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Feed-forward models (MLP, SVM) ignore word order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"box now" ≠ "now box" — sequence matters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RNN processes one token at a time, left to right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Each step passes a hidden state to the next step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Hidden state carries context from all previous words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20574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8132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RNN vs LSTM — Key Difference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01952"/>
            <a:ext cx="5440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RNN problem: gradients vanish over long sequences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LSTM solution: adds 3 memory gates to control flow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Forget gate  → what to erase from memory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Input gate   → what new information to store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Output gate  → what to pass to the 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611880"/>
            <a:ext cx="11494008" cy="123444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219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888AA"/>
                </a:solidFill>
              </a:rPr>
              <a:t>How We Prepared the Data for Sequence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42232"/>
            <a:ext cx="1121968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Each message tokenized into word indices using a vocabulary dictionary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Sequences padded to fixed length (25 tokens) so all inputs are same size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Embedding layer learns 50-dimensional vector per word during training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5010912"/>
            <a:ext cx="5577840" cy="1627632"/>
          </a:xfrm>
          <a:prstGeom prst="rect">
            <a:avLst/>
          </a:prstGeom>
          <a:solidFill>
            <a:srgbClr val="1A1A2E"/>
          </a:solidFill>
          <a:ln w="1905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51206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4EA8DA"/>
                </a:solidFill>
              </a:rPr>
              <a:t>RNN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3472" y="51206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4EA8DA"/>
                </a:solidFill>
              </a:rPr>
              <a:t>79.99%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57150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Vanishing gradient on short F1 messages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5010912"/>
            <a:ext cx="5577840" cy="1627632"/>
          </a:xfrm>
          <a:prstGeom prst="rect">
            <a:avLst/>
          </a:prstGeom>
          <a:solidFill>
            <a:srgbClr val="1A1A2E"/>
          </a:solidFill>
          <a:ln w="1905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51206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C00B"/>
                </a:solidFill>
              </a:rPr>
              <a:t>LSTM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51206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000" b="1" i="0">
                <a:solidFill>
                  <a:srgbClr val="FFC00B"/>
                </a:solidFill>
              </a:rPr>
              <a:t>81.42%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57150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Gated memory helps, still limited by message length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🏷️  Phases 10 &amp; 11 — spaCy Pipeline &amp; Custom 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Inspecting the NLP pipeline and training domain-specific entity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2148840" cy="658368"/>
          </a:xfrm>
          <a:prstGeom prst="rect">
            <a:avLst/>
          </a:prstGeom>
          <a:solidFill>
            <a:srgbClr val="1A1A2E"/>
          </a:solidFill>
          <a:ln w="1651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447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888AA"/>
                </a:solidFill>
              </a:rPr>
              <a:t>tokenizer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1536192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1371600"/>
            <a:ext cx="2148840" cy="658368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4447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tagger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1536192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0912" y="1371600"/>
            <a:ext cx="2148840" cy="658368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14447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1536192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42632" y="1371600"/>
            <a:ext cx="2148840" cy="658368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14447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EA8DA"/>
                </a:solidFill>
              </a:rPr>
              <a:t>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18904" y="1536192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74352" y="1371600"/>
            <a:ext cx="2148840" cy="658368"/>
          </a:xfrm>
          <a:prstGeom prst="rect">
            <a:avLst/>
          </a:prstGeom>
          <a:solidFill>
            <a:srgbClr val="1A1A2E"/>
          </a:solidFill>
          <a:ln w="1651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4352" y="14447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51B23"/>
                </a:solidFill>
              </a:rPr>
              <a:t>custom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212848"/>
            <a:ext cx="5577840" cy="17373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232257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Phase 10 — Intent Matchers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27432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Built custom spaCy Matcher rules on top of the pipeline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INSTRUCTION: box, pit, push — direct commands to driver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POSITION_GAP: gap, interval, behind — race status updates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TECHNICAL_REPORT: mode, engine, hydraulic — car issues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212848"/>
            <a:ext cx="5715000" cy="173736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22576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Phase 11 — Why Custom NER?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43200"/>
            <a:ext cx="5440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Default spaCy cannot recognise F1 entities at all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"Red Bull" labelled as PRODUCT — wrong, it is a TEAM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"soft" not recognised as a tyre compound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We trained a brand-new NER model from scratch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4160520"/>
            <a:ext cx="5577840" cy="1115568"/>
          </a:xfrm>
          <a:prstGeom prst="rect">
            <a:avLst/>
          </a:prstGeom>
          <a:solidFill>
            <a:srgbClr val="1A1A2E"/>
          </a:solidFill>
          <a:ln w="1524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4251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DRIVER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4709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e.g.  Verstappen, Hamilton, Leclerc, Russell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4160520"/>
            <a:ext cx="5577840" cy="1115568"/>
          </a:xfrm>
          <a:prstGeom prst="rect">
            <a:avLst/>
          </a:prstGeom>
          <a:solidFill>
            <a:srgbClr val="1A1A2E"/>
          </a:solidFill>
          <a:ln w="1524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4709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e.g.  Red Bull, McLaren, Ferrari, Mercedes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5440680"/>
            <a:ext cx="5577840" cy="1115568"/>
          </a:xfrm>
          <a:prstGeom prst="rect">
            <a:avLst/>
          </a:prstGeom>
          <a:solidFill>
            <a:srgbClr val="1A1A2E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5532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TIRE_COMPOUND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5989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e.g.  soft, medium, hard, inters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5440680"/>
            <a:ext cx="5577840" cy="1115568"/>
          </a:xfrm>
          <a:prstGeom prst="rect">
            <a:avLst/>
          </a:prstGeom>
          <a:solidFill>
            <a:srgbClr val="1A1A2E"/>
          </a:solidFill>
          <a:ln w="1524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5532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STRATEGY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5989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e.g.  box box, mode 7, strat 8, undercut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492240"/>
            <a:ext cx="11494008" cy="292608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8888AA"/>
                </a:solidFill>
              </a:rPr>
              <a:t>Training: 30 manually annotated sentences × 30 epochs using spaCy's blank English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🤖  Phase 13 — Retrieval-Augmented Generation (RAG)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Combining information retrieval with AI-style answer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6858000" cy="1664208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What is RAG?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65836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LLMs often hallucinate facts they were not trained 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RAG solves this: retrieve facts first, then generate a grounded answer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Our system queries 5 structured F1 databases before answering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No live LLM needed — we simulate the full pipeline end-to-end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3200400"/>
            <a:ext cx="2816352" cy="749808"/>
          </a:xfrm>
          <a:prstGeom prst="rect">
            <a:avLst/>
          </a:prstGeom>
          <a:solidFill>
            <a:srgbClr val="1A1A2E"/>
          </a:solidFill>
          <a:ln w="1651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3310128"/>
            <a:ext cx="2816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A8DA"/>
                </a:solidFill>
              </a:rPr>
              <a:t>1. User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3375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9856" y="3200400"/>
            <a:ext cx="2816352" cy="749808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310128"/>
            <a:ext cx="2816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2. Search 5 DBs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33375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00400"/>
            <a:ext cx="2816352" cy="749808"/>
          </a:xfrm>
          <a:prstGeom prst="rect">
            <a:avLst/>
          </a:prstGeom>
          <a:solidFill>
            <a:srgbClr val="1A1A2E"/>
          </a:solidFill>
          <a:ln w="1651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10128"/>
            <a:ext cx="2816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B"/>
                </a:solidFill>
              </a:rPr>
              <a:t>3. Build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375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51B23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64624" y="3200400"/>
            <a:ext cx="2816352" cy="749808"/>
          </a:xfrm>
          <a:prstGeom prst="rect">
            <a:avLst/>
          </a:prstGeom>
          <a:solidFill>
            <a:srgbClr val="1A1A2E"/>
          </a:solidFill>
          <a:ln w="1651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64624" y="3310128"/>
            <a:ext cx="2816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0FA7B"/>
                </a:solidFill>
              </a:rPr>
              <a:t>4. Generate 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4133087"/>
            <a:ext cx="2240280" cy="1051560"/>
          </a:xfrm>
          <a:prstGeom prst="rect">
            <a:avLst/>
          </a:prstGeom>
          <a:solidFill>
            <a:srgbClr val="1A1A2E"/>
          </a:solidFill>
          <a:ln w="1143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📻 Radio Corpus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59028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18,574 driver messages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4133087"/>
            <a:ext cx="2240280" cy="1051560"/>
          </a:xfrm>
          <a:prstGeom prst="rect">
            <a:avLst/>
          </a:prstGeom>
          <a:solidFill>
            <a:srgbClr val="1A1A2E"/>
          </a:solidFill>
          <a:ln w="1143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16352" y="420624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👤 Team Profiles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459028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Drivers &amp; car numbers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5776" y="4133087"/>
            <a:ext cx="2240280" cy="1051560"/>
          </a:xfrm>
          <a:prstGeom prst="rect">
            <a:avLst/>
          </a:prstGeom>
          <a:solidFill>
            <a:srgbClr val="1A1A2E"/>
          </a:solidFill>
          <a:ln w="1143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75504" y="420624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🏁 Race 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459028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Winners &amp; DNF retirements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24928" y="4133087"/>
            <a:ext cx="2240280" cy="1051560"/>
          </a:xfrm>
          <a:prstGeom prst="rect">
            <a:avLst/>
          </a:prstGeom>
          <a:solidFill>
            <a:srgbClr val="1A1A2E"/>
          </a:solidFill>
          <a:ln w="1143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34656" y="420624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⚙️  Tech Specs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4656" y="459028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Car dimensions (2025/26)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4133087"/>
            <a:ext cx="2240280" cy="1051560"/>
          </a:xfrm>
          <a:prstGeom prst="rect">
            <a:avLst/>
          </a:prstGeom>
          <a:solidFill>
            <a:srgbClr val="1A1A2E"/>
          </a:solidFill>
          <a:ln w="1143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93808" y="420624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C00B"/>
                </a:solidFill>
              </a:rPr>
              <a:t>📜 Regulations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459028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CCC"/>
                </a:solidFill>
              </a:rPr>
              <a:t>Sporting &amp; technical rules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69480" y="1371600"/>
            <a:ext cx="4572000" cy="3858768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52360" y="1481328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0FA7B"/>
                </a:solidFill>
              </a:rPr>
              <a:t>What the Prompt Looks Like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1901952"/>
            <a:ext cx="4297680" cy="3218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You are an F1 expert assistant.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Context retrieved: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  Radio: 'Box box, switch to soft.'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  Regulation: Min weight 768kg in 2026.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  Result: Winner — Lando Norris (Monaco GP)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Question: Who won Monaco and why?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  → Answer using ONLY the context above.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5349240"/>
            <a:ext cx="11494008" cy="1325880"/>
          </a:xfrm>
          <a:prstGeom prst="rect">
            <a:avLst/>
          </a:prstGeom>
          <a:solidFill>
            <a:srgbClr val="0A180A"/>
          </a:solidFill>
          <a:ln w="1270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54406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FA7B"/>
                </a:solidFill>
              </a:rPr>
              <a:t>Why it matters: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806440"/>
            <a:ext cx="11109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RAG is the backbone of enterprise AI assistants (ChatGPT Enterprise, Perplexity AI, Google NotebookLM). Implementing it from scratch demonstrates a production-level understanding of modern NLP architecture.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💬  Phase 12 — Trigram Generator &amp; Rule-Based Chatbot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Two complementary NLP approaches to language generation and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577840" cy="29260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813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A8DA"/>
                </a:solidFill>
              </a:rPr>
              <a:t>Trigram Language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Learns P(word₃ | word₁, word₂) from the corpus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Given a seed bigram, predicts the next most likely word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Shifts the window: uses last 2 words to predict next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Repeats to generate a synthetic F1 radio message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Example: 'box box' → 'box box now switch medium'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Pure statistics — no neural network needed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715000" cy="292608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8132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Rule-Based Intent 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01952"/>
            <a:ext cx="5440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Matches user question to predefined keyword patterns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Queries the corpus, race results, and regulation databases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Answers: who won Monaco? / who retired? / what is RAG?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Covers 14 intent categories with smart fallback search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No ML needed — demonstrates that rule-based systems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▸  can work well for narrow, structured domains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4480560"/>
            <a:ext cx="11494008" cy="384048"/>
          </a:xfrm>
          <a:prstGeom prst="rect">
            <a:avLst/>
          </a:prstGeom>
          <a:solidFill>
            <a:srgbClr val="151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52628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00B"/>
                </a:solidFill>
              </a:rPr>
              <a:t>  Key Contrast: Rule-based = predictable but brittle   |   Statistical (n-gram) = flexible but can produce nonsense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504748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515721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Race winners &amp; podiums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504748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515721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DNF retirements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6208" y="504748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515721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Driver radio messages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504748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0576" y="515721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Tire &amp; strategy queries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587044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598017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F1 Regulations 2025/26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587044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598017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NLP concepts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587044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598017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Model benchmarks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0576" y="5870448"/>
            <a:ext cx="2788920" cy="685800"/>
          </a:xfrm>
          <a:prstGeom prst="rect">
            <a:avLst/>
          </a:prstGeom>
          <a:solidFill>
            <a:srgbClr val="1A1A2E"/>
          </a:solidFill>
          <a:ln w="889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0576" y="5980176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CCCC"/>
                </a:solidFill>
              </a:rPr>
              <a:t>  ✦  Smart corpus fallback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Final Results — All 6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Performance on 18,574 messages — 80/20 train/test split, stratified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Naive Bayes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Classical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472184"/>
            <a:ext cx="548307" cy="457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027" y="144475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79.94%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2128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PyTorch RNN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Deep Learning (Seq)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240280"/>
            <a:ext cx="562439" cy="457200"/>
          </a:xfrm>
          <a:prstGeom prst="rect">
            <a:avLst/>
          </a:prstGeom>
          <a:solidFill>
            <a:srgbClr val="4EA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3159" y="221284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EA8DA"/>
                </a:solidFill>
              </a:rPr>
              <a:t>79.99%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80944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PyTorch LSTM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30449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Deep Learning (Seq)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3008376"/>
            <a:ext cx="966603" cy="457200"/>
          </a:xfrm>
          <a:prstGeom prst="rect">
            <a:avLst/>
          </a:prstGeom>
          <a:solidFill>
            <a:srgbClr val="4EA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7323" y="29809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EA8DA"/>
                </a:solidFill>
              </a:rPr>
              <a:t>81.42%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3749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813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Classical 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3776472"/>
            <a:ext cx="4016211" cy="457200"/>
          </a:xfrm>
          <a:prstGeom prst="rect">
            <a:avLst/>
          </a:prstGeom>
          <a:solidFill>
            <a:srgbClr val="FFC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76931" y="37490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C00B"/>
                </a:solidFill>
              </a:rPr>
              <a:t>92.21%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517136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PyTorch 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45811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Deep Learning (FF)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0" y="4544568"/>
            <a:ext cx="4117958" cy="457200"/>
          </a:xfrm>
          <a:prstGeom prst="rect">
            <a:avLst/>
          </a:prstGeom>
          <a:solidFill>
            <a:srgbClr val="FFC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8678" y="4517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C00B"/>
                </a:solidFill>
              </a:rPr>
              <a:t>92.57%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28523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Linear SVM  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8888AA"/>
                </a:solidFill>
              </a:rPr>
              <a:t>Classical ML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5312664"/>
            <a:ext cx="4468423" cy="4572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29143" y="528523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93.81%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080760"/>
            <a:ext cx="11494008" cy="621792"/>
          </a:xfrm>
          <a:prstGeom prst="rect">
            <a:avLst/>
          </a:prstGeom>
          <a:solidFill>
            <a:srgbClr val="1A0606"/>
          </a:solidFill>
          <a:ln w="1905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6144768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🔑  Key Insight: Linear SVM beats all neural networks. F1 messages average only ~6 words — too short for RNN/LSTM to exploit sequential context. TF-IDF + SVM is optimal for this short-text, domain-specific task.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🖥️  Streamlit Interactive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00B"/>
                </a:solidFill>
              </a:rPr>
              <a:t>All 13 phases wrapped into a live, interactive 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19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7160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E51B23"/>
                </a:solidFill>
              </a:rPr>
              <a:t>📂 Overview &amp; Dataset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Browse the 18,574-message corpus. Filter by driver, grand prix. View corpus statistics and message length distributions.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7160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🔍 TF-IDF 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90195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Type any query and retrieve the most relevant radio messages using cosine similarity on TF-IDF vectors.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310896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200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💬 Sentiment &amp; Emotion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63931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Visualise sentiment score distributions. See the most positive and most negative messages. Emotion breakdown by driver.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10896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50FA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200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50FA7B"/>
                </a:solidFill>
              </a:rPr>
              <a:t>🏷️ spaCy NLP &amp; Custom 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63931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Type any text and see live tokenization, POS tagging, lemmatization, and custom NER entity highlighting.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484632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4E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937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EA8DA"/>
                </a:solidFill>
              </a:rPr>
              <a:t>🤖 Interactive Chatbot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37667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Ask questions about race results, regulations, NLP concepts. 14 intent categories + smart corpus fallback.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352" y="4846320"/>
            <a:ext cx="5623560" cy="1572768"/>
          </a:xfrm>
          <a:prstGeom prst="rect">
            <a:avLst/>
          </a:prstGeom>
          <a:solidFill>
            <a:srgbClr val="1A1A2E"/>
          </a:solidFill>
          <a:ln w="1397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4937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C00B"/>
                </a:solidFill>
              </a:rPr>
              <a:t>📡 RAG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5376672"/>
            <a:ext cx="5303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Enter a question → watch the system retrieve from 5 databases, build a prompt, and generate a grounded answer.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9260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🏁  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914400"/>
            <a:ext cx="2926080" cy="4572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3112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AA"/>
                </a:solidFill>
              </a:rPr>
              <a:t>20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371600"/>
            <a:ext cx="7772400" cy="5257800"/>
          </a:xfrm>
          <a:prstGeom prst="rect">
            <a:avLst/>
          </a:prstGeom>
          <a:solidFill>
            <a:srgbClr val="1A1A2E"/>
          </a:solidFill>
          <a:ln w="10160">
            <a:solidFill>
              <a:srgbClr val="30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81328"/>
            <a:ext cx="7498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00B"/>
                </a:solidFill>
              </a:rPr>
              <a:t>What was achieved: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01952"/>
            <a:ext cx="74980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Built a real-world scraper collecting 18,574 authentic F1 radio messages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Implemented TF-IDF and sparse CSR/CSC matrices from scratch (not just using libraries)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Trained custom spaCy NER to detect DRIVER / TEAM / TIRE_COMPOUND / STRATEGY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Trained and benchmarked 6 classifiers (NB, LogReg, SVM, MLP, RNN, LSTM)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Trained CBOW word embeddings: 'box' and 'pit' became semantically similar vectors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Built a custom F1 sentiment lexicon (standard VADER tools misread racing radio)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Implemented a full 5-database RAG pipeline with prompt construction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CCCCC"/>
                </a:solidFill>
              </a:rPr>
              <a:t>✦  Deployed all features in an interactive Streamlit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371600"/>
            <a:ext cx="3474720" cy="3429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51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53619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51B23"/>
                </a:solidFill>
              </a:rPr>
              <a:t>Best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38528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Linear SVM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E51B23"/>
                </a:solidFill>
              </a:rPr>
              <a:t>93.81%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40156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CCCCCC"/>
                </a:solidFill>
              </a:rPr>
              <a:t>on 18,574 messages
(80/20 stratified split)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4983480"/>
            <a:ext cx="3474720" cy="1645920"/>
          </a:xfrm>
          <a:prstGeom prst="rect">
            <a:avLst/>
          </a:prstGeom>
          <a:solidFill>
            <a:srgbClr val="0A0A1A"/>
          </a:solidFill>
          <a:ln w="15240">
            <a:solidFill>
              <a:srgbClr val="FFC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51023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00B"/>
                </a:solidFill>
              </a:rPr>
              <a:t>GitHub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486400"/>
            <a:ext cx="3017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iamshashwatsingh/
f1-nlp-analyzer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56032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6528816"/>
            <a:ext cx="11704320" cy="73152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C00B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218688"/>
            <a:ext cx="5760720" cy="54864"/>
          </a:xfrm>
          <a:prstGeom prst="rect">
            <a:avLst/>
          </a:prstGeom>
          <a:solidFill>
            <a:srgbClr val="E51B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01568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18,574 messages  ·  3 Grand Prix  ·  6 Models  ·  93.81% best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77056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Custom NER  ·  CBOW Embeddings  ·  RAG Pipeline  ·  Streamlit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AA"/>
                </a:solidFill>
              </a:rPr>
              <a:t>Shashwat Singh  |  M.Sc. Machine Learning &amp; Data Analytics  |  Hochschule Aalen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