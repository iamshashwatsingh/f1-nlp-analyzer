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11704320" cy="73152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528816"/>
            <a:ext cx="11704320" cy="73152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🏎️  F1 Team Radio NLP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C00B"/>
                </a:solidFill>
              </a:rPr>
              <a:t>F1 Transcript Scraper, ML Classification, and RAG Strategist Assistant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88920"/>
            <a:ext cx="5029200" cy="50292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AA"/>
                </a:solidFill>
              </a:rPr>
              <a:t>Student: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017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</a:rPr>
              <a:t>Shashwat Singh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935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AA"/>
                </a:solidFill>
              </a:rPr>
              <a:t>Programme: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59359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</a:rPr>
              <a:t>M.Sc. Machine Learning &amp; Data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6966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AA"/>
                </a:solidFill>
              </a:rPr>
              <a:t>Institution: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169664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</a:rPr>
              <a:t>Hochschule Aalen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74573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AA"/>
                </a:solidFill>
              </a:rPr>
              <a:t>Course: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74573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</a:rPr>
              <a:t>Natural Language Processing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188720"/>
            <a:ext cx="3337560" cy="5212080"/>
          </a:xfrm>
          <a:prstGeom prst="rect">
            <a:avLst/>
          </a:prstGeom>
          <a:solidFill>
            <a:srgbClr val="1A1A2E"/>
          </a:solidFill>
          <a:ln w="22860">
            <a:solidFill>
              <a:srgbClr val="E5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1371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1B23"/>
                </a:solidFill>
              </a:rPr>
              <a:t>NLP Project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1874519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  ✦  BeautifulSoup Scraper on F1 Archive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2350007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  ✦  Corpus Preprocessing &amp; spaCy lemmas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825495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  ✦  Vocabulary statistics &amp; Zipf's Law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3300983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  ✦  TF-IDF Search Engine from scratch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3776471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  ✦  Domain-specific Sentiment Lexicon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4251959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  ✦  Message classification (NB, LogReg, SVM)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4727447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  ✦  Custom Named Entity Recognition (NER)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5202935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  ✦  Multi-Source RAG Prompt Builder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8" y="5678423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  ✦  Streamlit Interactive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📋 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14400"/>
            <a:ext cx="2926080" cy="4572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AA"/>
                </a:solidFill>
              </a:rPr>
              <a:t>2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371600"/>
            <a:ext cx="5577840" cy="4572000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813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0B"/>
                </a:solidFill>
              </a:rPr>
              <a:t>Data, Preprocessing &amp; 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901952"/>
            <a:ext cx="530352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1.  What is the Data?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2.  Scraping &amp; Collection (BeautifulSoup)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3.  Text Preprocessing &amp; normalisation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4.  Zipf's Law &amp; Search from Scratch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5.  Vectorization (BoW &amp; TF-IDF)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623560" cy="4572000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8132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0B"/>
                </a:solidFill>
              </a:rPr>
              <a:t>Classification, NER &amp;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01952"/>
            <a:ext cx="534924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6.  Custom F1 Sentiment Scorer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7.  Classification Models (NB · LogReg · SVM)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8.  spaCy Pipeline &amp; Intent Matching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9.  Custom F1 Named Entity Recognition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10. Retrieval-Augmented Generation (RAG)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11. Dashboard, Chatbot &amp; Final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📡  The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14400"/>
            <a:ext cx="2926080" cy="4572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058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C00B"/>
                </a:solidFill>
              </a:rPr>
              <a:t>Formula 1 live driver team radio communications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AA"/>
                </a:solidFill>
              </a:rPr>
              <a:t>3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71600"/>
            <a:ext cx="3749039" cy="1691640"/>
          </a:xfrm>
          <a:prstGeom prst="rect">
            <a:avLst/>
          </a:prstGeom>
          <a:solidFill>
            <a:srgbClr val="1A1A2E"/>
          </a:solidFill>
          <a:ln w="16510">
            <a:solidFill>
              <a:srgbClr val="E5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4813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0B"/>
                </a:solidFill>
              </a:rPr>
              <a:t>🏁  Barcelona GP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📍 Spain, 2026 Season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677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📻 ~6,200 messages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749039" cy="1691640"/>
          </a:xfrm>
          <a:prstGeom prst="rect">
            <a:avLst/>
          </a:prstGeom>
          <a:solidFill>
            <a:srgbClr val="1A1A2E"/>
          </a:solidFill>
          <a:ln w="16510">
            <a:solidFill>
              <a:srgbClr val="E5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4813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0B"/>
                </a:solidFill>
              </a:rPr>
              <a:t>🏁  Monaco GP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920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📍 Monaco, 2026 Season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2677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📻 ~5,800 messages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47888" y="1371600"/>
            <a:ext cx="3749039" cy="1691640"/>
          </a:xfrm>
          <a:prstGeom prst="rect">
            <a:avLst/>
          </a:prstGeom>
          <a:solidFill>
            <a:srgbClr val="1A1A2E"/>
          </a:solidFill>
          <a:ln w="16510">
            <a:solidFill>
              <a:srgbClr val="E5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4813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0B"/>
                </a:solidFill>
              </a:rPr>
              <a:t>🏁  Canadian GP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1920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📍 Montreal, 2026 Season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6" y="22677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📻 ~6,574 messages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3246120"/>
            <a:ext cx="2651760" cy="1234440"/>
          </a:xfrm>
          <a:prstGeom prst="rect">
            <a:avLst/>
          </a:prstGeom>
          <a:solidFill>
            <a:srgbClr val="1E1E3A"/>
          </a:solidFill>
          <a:ln w="15240">
            <a:solidFill>
              <a:srgbClr val="E5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329184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51B23"/>
                </a:solidFill>
              </a:rPr>
              <a:t>18,574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39776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</a:rPr>
              <a:t>Total Messages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246120"/>
            <a:ext cx="2651760" cy="1234440"/>
          </a:xfrm>
          <a:prstGeom prst="rect">
            <a:avLst/>
          </a:prstGeom>
          <a:solidFill>
            <a:srgbClr val="1E1E3A"/>
          </a:solidFill>
          <a:ln w="15240">
            <a:solidFill>
              <a:srgbClr val="4E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329184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4EA8DA"/>
                </a:solidFill>
              </a:rPr>
              <a:t>20+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9776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</a:rPr>
              <a:t>Unique Drivers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8" y="3246120"/>
            <a:ext cx="2651760" cy="1234440"/>
          </a:xfrm>
          <a:prstGeom prst="rect">
            <a:avLst/>
          </a:prstGeom>
          <a:solidFill>
            <a:srgbClr val="1E1E3A"/>
          </a:solidFill>
          <a:ln w="15240">
            <a:solidFill>
              <a:srgbClr val="FFC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329184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C00B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39776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</a:rPr>
              <a:t>Grand Prix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0576" y="3246120"/>
            <a:ext cx="2651760" cy="1234440"/>
          </a:xfrm>
          <a:prstGeom prst="rect">
            <a:avLst/>
          </a:prstGeom>
          <a:solidFill>
            <a:srgbClr val="1E1E3A"/>
          </a:solidFill>
          <a:ln w="15240">
            <a:solidFill>
              <a:srgbClr val="50F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329184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50FA7B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39776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</a:rPr>
              <a:t>Categories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" y="4645152"/>
            <a:ext cx="11494008" cy="1828800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4754880"/>
            <a:ext cx="11219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A8DA"/>
                </a:solidFill>
              </a:rPr>
              <a:t>F1 Team Radio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175504"/>
            <a:ext cx="11219688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Live communications between drivers and engineers during a race session.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Contains domain-specific shorthand: strategy decisions, tires, gaps, vehicle technical reports.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Example: Verstappen: "Box box, tyre degradation is high."  |  Engineer: "Copy, mode 7."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🕷️  Phase 1 — Web Scraping &amp; Data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14400"/>
            <a:ext cx="2926080" cy="4572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058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C00B"/>
                </a:solidFill>
              </a:rPr>
              <a:t>BeautifulSoup crawler built to extract text from a static transcript sandbox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AA"/>
                </a:solidFill>
              </a:rPr>
              <a:t>4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71600"/>
            <a:ext cx="11494008" cy="3291840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81328"/>
            <a:ext cx="11219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A8DA"/>
                </a:solidFill>
              </a:rPr>
              <a:t>Data Collection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01952"/>
            <a:ext cx="11219688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✦  Check robots.txt first to ensure scraper is ethically allowed to crawl.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✦  BeautifulSoup parses F1 session HTML structure: Session → Driver list → Individual message divs.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✦  Scrapes driver name, grand prix session, timestamp, and message text.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✦  18,574 messages cleanly parsed and saved to a structured CSV file.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✦  Static mirror transcripts.recursiveprojects.cloud used to avoid Cloudflare blocks on live Box Box Radio.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4846320"/>
            <a:ext cx="3749039" cy="1554480"/>
          </a:xfrm>
          <a:prstGeom prst="rect">
            <a:avLst/>
          </a:prstGeom>
          <a:solidFill>
            <a:srgbClr val="1A1A2E"/>
          </a:solidFill>
          <a:ln w="15240">
            <a:solidFill>
              <a:srgbClr val="FFC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49560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00B"/>
                </a:solidFill>
              </a:rPr>
              <a:t>requests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537667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Fetches the HTML source of the web archive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4846320"/>
            <a:ext cx="3749039" cy="1554480"/>
          </a:xfrm>
          <a:prstGeom prst="rect">
            <a:avLst/>
          </a:prstGeom>
          <a:solidFill>
            <a:srgbClr val="1A1A2E"/>
          </a:solidFill>
          <a:ln w="15240">
            <a:solidFill>
              <a:srgbClr val="FFC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9560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00B"/>
                </a:solidFill>
              </a:rPr>
              <a:t>BeautifulSoup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537667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Locates transcript containers and extracts clean text strings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4846320"/>
            <a:ext cx="3749039" cy="1554480"/>
          </a:xfrm>
          <a:prstGeom prst="rect">
            <a:avLst/>
          </a:prstGeom>
          <a:solidFill>
            <a:srgbClr val="1A1A2E"/>
          </a:solidFill>
          <a:ln w="15240">
            <a:solidFill>
              <a:srgbClr val="FFC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49560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00B"/>
                </a:solidFill>
              </a:rPr>
              <a:t>Pandas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537667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Structures the scraped driver, lap, and text records into a corpus dataframe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🧹  Phase 2 — Text Preprocessing &amp; Tokenization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14400"/>
            <a:ext cx="2926080" cy="4572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058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C00B"/>
                </a:solidFill>
              </a:rPr>
              <a:t>Standard NLP cleaning to isolate high-value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AA"/>
                </a:solidFill>
              </a:rPr>
              <a:t>5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71600"/>
            <a:ext cx="11494008" cy="1051560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630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88AA"/>
                </a:solidFill>
              </a:rPr>
              <a:t>Raw message: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783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CCCCCC"/>
                </a:solidFill>
              </a:rPr>
              <a:t>"Alright George, box box this lap! Degradation is high on the rear tyres."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084831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0FA7B"/>
                </a:solidFill>
              </a:rPr>
              <a:t>Processed message: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2084831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50FA7B"/>
                </a:solidFill>
              </a:rPr>
              <a:t>"alright george box box lap degrade high rear tyre"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3383280"/>
            <a:ext cx="5623560" cy="868680"/>
          </a:xfrm>
          <a:prstGeom prst="rect">
            <a:avLst/>
          </a:prstGeom>
          <a:solidFill>
            <a:srgbClr val="1A1A2E"/>
          </a:solidFill>
          <a:ln w="8890">
            <a:solidFill>
              <a:srgbClr val="4E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34472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EA8DA"/>
                </a:solidFill>
              </a:rPr>
              <a:t>1. Lowercasing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3840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Removes casing differences so 'Box' and 'box' match perfectly.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4407408"/>
            <a:ext cx="5623560" cy="868680"/>
          </a:xfrm>
          <a:prstGeom prst="rect">
            <a:avLst/>
          </a:prstGeom>
          <a:solidFill>
            <a:srgbClr val="1A1A2E"/>
          </a:solidFill>
          <a:ln w="8890">
            <a:solidFill>
              <a:srgbClr val="4E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447141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EA8DA"/>
                </a:solidFill>
              </a:rPr>
              <a:t>2. Punctuation Strip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48646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Removes exclamation marks, periods, and brackets using regex.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5431536"/>
            <a:ext cx="5623560" cy="868680"/>
          </a:xfrm>
          <a:prstGeom prst="rect">
            <a:avLst/>
          </a:prstGeom>
          <a:solidFill>
            <a:srgbClr val="1A1A2E"/>
          </a:solidFill>
          <a:ln w="8890">
            <a:solidFill>
              <a:srgbClr val="4E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54955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4EA8DA"/>
                </a:solidFill>
              </a:rPr>
              <a:t>3. Stopwords Filter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588873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Drops common words ('the', 'is', 'on', 'with') that carry no unique semantic meaning.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5352" y="3383280"/>
            <a:ext cx="5623560" cy="868680"/>
          </a:xfrm>
          <a:prstGeom prst="rect">
            <a:avLst/>
          </a:prstGeom>
          <a:solidFill>
            <a:srgbClr val="1A1A2E"/>
          </a:solidFill>
          <a:ln w="8890">
            <a:solidFill>
              <a:srgbClr val="FFC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34472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C00B"/>
                </a:solidFill>
              </a:rPr>
              <a:t>4. NLTK Stemming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3840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Porter stemmer chops suffixes logically (e.g. 'degraded' → 'degrad').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4407408"/>
            <a:ext cx="5623560" cy="868680"/>
          </a:xfrm>
          <a:prstGeom prst="rect">
            <a:avLst/>
          </a:prstGeom>
          <a:solidFill>
            <a:srgbClr val="1A1A2E"/>
          </a:solidFill>
          <a:ln w="8890">
            <a:solidFill>
              <a:srgbClr val="FFC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9944" y="447141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C00B"/>
                </a:solidFill>
              </a:rPr>
              <a:t>5. spaCy Lemmatization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48646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Uses morphological lookup to find the true dictionary base (e.g. 'won' → 'win').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5431536"/>
            <a:ext cx="5623560" cy="868680"/>
          </a:xfrm>
          <a:prstGeom prst="rect">
            <a:avLst/>
          </a:prstGeom>
          <a:solidFill>
            <a:srgbClr val="1A1A2E"/>
          </a:solidFill>
          <a:ln w="8890">
            <a:solidFill>
              <a:srgbClr val="FFC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54955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C00B"/>
                </a:solidFill>
              </a:rPr>
              <a:t>6. Corpus 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588873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Clean words saved to clean_message column for model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📊  Phase 3 — Vocabulary &amp; Zipf's Law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14400"/>
            <a:ext cx="2926080" cy="4572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058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C00B"/>
                </a:solidFill>
              </a:rPr>
              <a:t>Statistical analysis of term distribution across F1 driver transcripts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AA"/>
                </a:solidFill>
              </a:rPr>
              <a:t>6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71600"/>
            <a:ext cx="5623560" cy="3291840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8132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1B23"/>
                </a:solidFill>
              </a:rPr>
              <a:t>Zipf's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01952"/>
            <a:ext cx="534924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Word frequency is inversely proportional to its rank.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Formula: Frequency × Rank ≈ Constant.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We plotted frequency vs rank on a log-log scale.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Result matches a straight negative slope, verifying that Zipf's law holds perfectly on F1 radio corpus.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371600"/>
            <a:ext cx="5623560" cy="3291840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481328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A8DA"/>
                </a:solidFill>
              </a:rPr>
              <a:t>TF-IDF Search Engine from Scratch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1901952"/>
            <a:ext cx="5349240" cy="26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We built a baseline F1 search engine manually using TF and IDF.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Term Frequency (TF): Word occurrences relative to document length.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Inverse Document Frequency (IDF): Log of total documents divided by documents containing the term.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Cosine Similarity: Measures angle between query vector and document vector to find top matches.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4892040"/>
            <a:ext cx="11494008" cy="1463040"/>
          </a:xfrm>
          <a:prstGeom prst="rect">
            <a:avLst/>
          </a:prstGeom>
          <a:solidFill>
            <a:srgbClr val="1A1A2E"/>
          </a:solidFill>
          <a:ln w="15240">
            <a:solidFill>
              <a:srgbClr val="50F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109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0FA7B"/>
                </a:solidFill>
              </a:rPr>
              <a:t>💡  Why this analysis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54406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CCCC"/>
                </a:solidFill>
              </a:rPr>
              <a:t>Zipf's law shows that a tiny fraction of words ('box', 'gap', 'lap', 'tyre') represent the vast majority of F1 communication. TF-IDF acts as a filter: it automatically down-weights ultra-frequent F1 filler terms and increases the value of rare, context-specific words during information searches.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🔢  Phase 4 — Vectorization &amp; 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14400"/>
            <a:ext cx="2926080" cy="4572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058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C00B"/>
                </a:solidFill>
              </a:rPr>
              <a:t>Mapping raw text tokens to numeric feature matrices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AA"/>
                </a:solidFill>
              </a:rPr>
              <a:t>7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71600"/>
            <a:ext cx="3749039" cy="3977639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8132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A8DA"/>
                </a:solidFill>
              </a:rPr>
              <a:t>One-Hot Encoding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01952"/>
            <a:ext cx="3474719" cy="33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Standard representation for categorical attributes.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Used to convert driver names into flat binary arrays.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Vector size equals number of drivers; value is 1 if driver is speaking, 0 otherwise.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5440680"/>
            <a:ext cx="3749039" cy="777240"/>
          </a:xfrm>
          <a:prstGeom prst="rect">
            <a:avLst/>
          </a:prstGeom>
          <a:solidFill>
            <a:srgbClr val="121228"/>
          </a:solidFill>
          <a:ln w="15240">
            <a:solidFill>
              <a:srgbClr val="4E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5513832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4EA8DA"/>
                </a:solidFill>
              </a:rPr>
              <a:t>Used for non-text categories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749039" cy="3977639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8132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0B"/>
                </a:solidFill>
              </a:rPr>
              <a:t>Bag of Words (BoW)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901952"/>
            <a:ext cx="3474719" cy="33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Represents text as a vector of word counts.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Uses CountVectorizer to map the corpus to a frequency matrix.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Simple and intuitive, but ignores relative word importance and document length.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5440680"/>
            <a:ext cx="3749039" cy="777240"/>
          </a:xfrm>
          <a:prstGeom prst="rect">
            <a:avLst/>
          </a:prstGeom>
          <a:solidFill>
            <a:srgbClr val="121228"/>
          </a:solidFill>
          <a:ln w="15240">
            <a:solidFill>
              <a:srgbClr val="FFC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5513832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C00B"/>
                </a:solidFill>
              </a:rPr>
              <a:t>Simple frequency matrix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47888" y="1371600"/>
            <a:ext cx="3749039" cy="3977639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48132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0FA7B"/>
                </a:solidFill>
              </a:rPr>
              <a:t>TF-IDF Vectorization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1901952"/>
            <a:ext cx="3474719" cy="33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Term Frequency (TF) times Inverse Document Frequency (IDF).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Calculates vocabulary importance dynamically.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Our final configuration uses TfidfVectorizer with a limit of 2,500 maximum features.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7888" y="5440680"/>
            <a:ext cx="3749039" cy="777240"/>
          </a:xfrm>
          <a:prstGeom prst="rect">
            <a:avLst/>
          </a:prstGeom>
          <a:solidFill>
            <a:srgbClr val="121228"/>
          </a:solidFill>
          <a:ln w="15240">
            <a:solidFill>
              <a:srgbClr val="50F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5513832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50FA7B"/>
                </a:solidFill>
              </a:rPr>
              <a:t>Optimal text model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💬  Phase 5a — Custom F1 Sentiment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14400"/>
            <a:ext cx="2926080" cy="4572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058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C00B"/>
                </a:solidFill>
              </a:rPr>
              <a:t>Why default lexicons fail and how custom weights solve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AA"/>
                </a:solidFill>
              </a:rPr>
              <a:t>8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71600"/>
            <a:ext cx="5577840" cy="2011680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813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1B23"/>
                </a:solidFill>
              </a:rPr>
              <a:t>Limitations of Standard Lexicons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01952"/>
            <a:ext cx="53035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General tools (VADER, TextBlob) score F1 jargon as neutral.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"box box" (urgent pit command) is scored as completely neutral.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"p1" (achieving first place) or "gap" are misread or ignored.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A custom domain-specific lexicon is required for F1 radio.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5715000" cy="2011680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81328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0B"/>
                </a:solidFill>
              </a:rPr>
              <a:t>Custom Sentiment Lexicon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01952"/>
            <a:ext cx="544068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We mapped specific F1 keywords to positive/negative values.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Message polarity is the summation of weights present in text.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Positive weights: p1 (+2.0), won (+2.0), great (+1.5), push (+0.5).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Negative weights: wtf (-2.0), problem (-1.0), slow (-0.8).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3566160"/>
            <a:ext cx="11494008" cy="384048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6118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0B"/>
                </a:solidFill>
              </a:rPr>
              <a:t>  Sentiment Score Output Examples: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4023360"/>
            <a:ext cx="1051560" cy="457200"/>
          </a:xfrm>
          <a:prstGeom prst="rect">
            <a:avLst/>
          </a:prstGeom>
          <a:solidFill>
            <a:srgbClr val="121225"/>
          </a:solidFill>
          <a:ln w="15240">
            <a:solidFill>
              <a:srgbClr val="50F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406908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0FA7B"/>
                </a:solidFill>
              </a:rPr>
              <a:t>+2.0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40965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"P1 guys! Unbelievable, we won!"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4553712"/>
            <a:ext cx="1051560" cy="457200"/>
          </a:xfrm>
          <a:prstGeom prst="rect">
            <a:avLst/>
          </a:prstGeom>
          <a:solidFill>
            <a:srgbClr val="121225"/>
          </a:solidFill>
          <a:ln w="15240">
            <a:solidFill>
              <a:srgbClr val="A0F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4599432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0F0A0"/>
                </a:solidFill>
              </a:rPr>
              <a:t>+1.5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626864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"Great drive, push to the end."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5084064"/>
            <a:ext cx="1051560" cy="457200"/>
          </a:xfrm>
          <a:prstGeom prst="rect">
            <a:avLst/>
          </a:prstGeom>
          <a:solidFill>
            <a:srgbClr val="121225"/>
          </a:solidFill>
          <a:ln w="152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5129784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CCCCC"/>
                </a:solidFill>
              </a:rPr>
              <a:t> 0.0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5157216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"Box this lap, copy that."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5614416"/>
            <a:ext cx="1051560" cy="457200"/>
          </a:xfrm>
          <a:prstGeom prst="rect">
            <a:avLst/>
          </a:prstGeom>
          <a:solidFill>
            <a:srgbClr val="121225"/>
          </a:solidFill>
          <a:ln w="15240">
            <a:solidFill>
              <a:srgbClr val="FF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5660136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A060"/>
                </a:solidFill>
              </a:rPr>
              <a:t>-1.0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56875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"Problem with the rear wing, slow."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6144768"/>
            <a:ext cx="1051560" cy="457200"/>
          </a:xfrm>
          <a:prstGeom prst="rect">
            <a:avLst/>
          </a:prstGeom>
          <a:solidFill>
            <a:srgbClr val="121225"/>
          </a:solidFill>
          <a:ln w="15240">
            <a:solidFill>
              <a:srgbClr val="E5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619048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51B23"/>
                </a:solidFill>
              </a:rPr>
              <a:t>-2.0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62179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"WTF, the engine is dying, impossible!"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🤖  Phase 5b — Classic Text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14400"/>
            <a:ext cx="2926080" cy="4572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058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C00B"/>
                </a:solidFill>
              </a:rPr>
              <a:t>Training classical ML algorithms on TF-IDF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AA"/>
                </a:solidFill>
              </a:rPr>
              <a:t>9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71600"/>
            <a:ext cx="5577840" cy="2011680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813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A8DA"/>
                </a:solidFill>
              </a:rPr>
              <a:t>Data Classification Targets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01952"/>
            <a:ext cx="53035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We auto-label messages into 4 categories using keyword heuristics: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  ✦  Strategy: box, pit, tire, soft, mediums, strat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  ✦  Position_Gap: gap, ahead, behind, seconds, P1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  ✦  Emotional: wtf, angry, impossible, no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  ✦  Technical: default/technical messages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5715000" cy="2011680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81328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0B"/>
                </a:solidFill>
              </a:rPr>
              <a:t>Evaluation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01952"/>
            <a:ext cx="544068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80% of data (14,859 messages) used to fit classifier parameters.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20% of data (3,715 messages) held back to test generalizability.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Stratification guarantees identical category ratios in train/test.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Performance assessed via Accuracy and Confusion Matrices.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3520440"/>
            <a:ext cx="3749039" cy="2240280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63016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CCCC"/>
                </a:solidFill>
              </a:rPr>
              <a:t>Naive Bayes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050792"/>
            <a:ext cx="3474719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Simple probabilistic baseline classifier.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Assumes word independence.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Fast training, lower accuracy but good benchmark.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5852160"/>
            <a:ext cx="3749039" cy="804672"/>
          </a:xfrm>
          <a:prstGeom prst="rect">
            <a:avLst/>
          </a:prstGeom>
          <a:solidFill>
            <a:srgbClr val="1A1A30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594360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CCCCC"/>
                </a:solidFill>
              </a:rPr>
              <a:t>Accuracy:  79.94%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520440"/>
            <a:ext cx="3749039" cy="2240280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63016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A8DA"/>
                </a:solidFill>
              </a:rPr>
              <a:t>Logistic Regression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050792"/>
            <a:ext cx="3474719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Linear probability model.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Performs strongly on sparse high-dimensional matrices.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Highly interpretable coefficients.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5852160"/>
            <a:ext cx="3749039" cy="804672"/>
          </a:xfrm>
          <a:prstGeom prst="rect">
            <a:avLst/>
          </a:prstGeom>
          <a:solidFill>
            <a:srgbClr val="1A1A30"/>
          </a:solidFill>
          <a:ln w="19050">
            <a:solidFill>
              <a:srgbClr val="4E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594360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EA8DA"/>
                </a:solidFill>
              </a:rPr>
              <a:t>Accuracy:  92.21%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47888" y="3520440"/>
            <a:ext cx="3749039" cy="2240280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363016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1B23"/>
                </a:solidFill>
              </a:rPr>
              <a:t>Linear SVM (Best Model)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4050792"/>
            <a:ext cx="3474719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Support Vector Machine with linear kernel.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Identifies the optimal hyper-plane to separate classes.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◆  Highest performance score.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47888" y="5852160"/>
            <a:ext cx="3749039" cy="804672"/>
          </a:xfrm>
          <a:prstGeom prst="rect">
            <a:avLst/>
          </a:prstGeom>
          <a:solidFill>
            <a:srgbClr val="1A1A30"/>
          </a:solidFill>
          <a:ln w="19050">
            <a:solidFill>
              <a:srgbClr val="E5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594360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51B23"/>
                </a:solidFill>
              </a:rPr>
              <a:t>Accuracy:  93.81%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🔍  Phase 6 — spaCy Pipeline &amp; Intent Matching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14400"/>
            <a:ext cx="2926080" cy="4572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058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C00B"/>
                </a:solidFill>
              </a:rPr>
              <a:t>Analyzing processing pipelines and building rule-based matchers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AA"/>
                </a:solidFill>
              </a:rPr>
              <a:t>10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71600"/>
            <a:ext cx="2148840" cy="658368"/>
          </a:xfrm>
          <a:prstGeom prst="rect">
            <a:avLst/>
          </a:prstGeom>
          <a:solidFill>
            <a:srgbClr val="1A1A2E"/>
          </a:solidFill>
          <a:ln w="1651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4475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88AA"/>
                </a:solidFill>
              </a:rPr>
              <a:t>tokenizer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3744" y="1536192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9192" y="1371600"/>
            <a:ext cx="2148840" cy="658368"/>
          </a:xfrm>
          <a:prstGeom prst="rect">
            <a:avLst/>
          </a:prstGeom>
          <a:solidFill>
            <a:srgbClr val="1A1A2E"/>
          </a:solidFill>
          <a:ln w="16510">
            <a:solidFill>
              <a:srgbClr val="4E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44475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EA8DA"/>
                </a:solidFill>
              </a:rPr>
              <a:t>tagger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5464" y="1536192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10912" y="1371600"/>
            <a:ext cx="2148840" cy="658368"/>
          </a:xfrm>
          <a:prstGeom prst="rect">
            <a:avLst/>
          </a:prstGeom>
          <a:solidFill>
            <a:srgbClr val="1A1A2E"/>
          </a:solidFill>
          <a:ln w="16510">
            <a:solidFill>
              <a:srgbClr val="4E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10912" y="144475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EA8DA"/>
                </a:solidFill>
              </a:rPr>
              <a:t>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1536192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42632" y="1371600"/>
            <a:ext cx="2148840" cy="658368"/>
          </a:xfrm>
          <a:prstGeom prst="rect">
            <a:avLst/>
          </a:prstGeom>
          <a:solidFill>
            <a:srgbClr val="1A1A2E"/>
          </a:solidFill>
          <a:ln w="16510">
            <a:solidFill>
              <a:srgbClr val="4E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2632" y="144475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EA8DA"/>
                </a:solidFill>
              </a:rPr>
              <a:t>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18904" y="1536192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74352" y="1371600"/>
            <a:ext cx="2148840" cy="658368"/>
          </a:xfrm>
          <a:prstGeom prst="rect">
            <a:avLst/>
          </a:prstGeom>
          <a:solidFill>
            <a:srgbClr val="1A1A2E"/>
          </a:solidFill>
          <a:ln w="16510">
            <a:solidFill>
              <a:srgbClr val="E5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144475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51B23"/>
                </a:solidFill>
              </a:rPr>
              <a:t>matcher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2286000"/>
            <a:ext cx="5577840" cy="4023360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3957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A8DA"/>
                </a:solidFill>
              </a:rPr>
              <a:t>Inspecting Token Attributes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2816352"/>
            <a:ext cx="5303520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We inspect the output of spaCy's standard processing chain.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Tokenization: Splits text into words and punctuation.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Part-of-Speech (POS) Tagging: Identifies grammatical roles (Noun, Verb, Adjective).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Lemmatization: Extracts root words.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This structured metadata allows us to build programmatic rules on top of raw text.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286000"/>
            <a:ext cx="5715000" cy="4023360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95728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1B23"/>
                </a:solidFill>
              </a:rPr>
              <a:t>Token Matchers for Functional Intent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816352"/>
            <a:ext cx="5440680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Built custom Matcher rules to extract specific command structures: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  ✦  PIT_COMMAND: Matches variations of 'box' or 'pit'.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  ✦  GAP_REPORT: Matches 'gap' followed by a relative word ('behind', 'ahead').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  ✦  MODE_SWITCH: Matches the word 'mode' followed by a number (e.g. 'mode 7').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Matches are resolved instantly using exact patterns rather than statistical guesses.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🏷️  Phase 7 — Custom Named Entity Recognition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14400"/>
            <a:ext cx="2926080" cy="4572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058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C00B"/>
                </a:solidFill>
              </a:rPr>
              <a:t>Training custom entity recognizers for Formula 1 entities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AA"/>
                </a:solidFill>
              </a:rPr>
              <a:t>11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71600"/>
            <a:ext cx="5577840" cy="2103120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813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1B23"/>
                </a:solidFill>
              </a:rPr>
              <a:t>Why Default NER Fails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01952"/>
            <a:ext cx="530352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Standard NER models (trained on general corpora) fail on F1 jargon.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It labels 'Red Bull' as a PRODUCT/ORGANIZATION instead of a Constructor TEAM.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It misses drivers like 'Verstappen' or labels them as generic PERSON.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It ignores tire compounds entirely ('softs' is not recognized).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Solution: Train a blank spaCy model on custom labeled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5715000" cy="2103120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81328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A8DA"/>
                </a:solidFill>
              </a:rPr>
              <a:t>Model Training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01952"/>
            <a:ext cx="544068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Created 30 manually annotated F1 radio sentences.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Example: 'Hamilton is on softs, Red Bull box box.'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  - Hamilton → DRIVER  |  softs → TIRE_COMPOUND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  - Red Bull → TEAM  |  box box → STRATEGY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Trained for 30 epochs using spaCy blank English model pipeline.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3657600"/>
            <a:ext cx="5577840" cy="1234440"/>
          </a:xfrm>
          <a:prstGeom prst="rect">
            <a:avLst/>
          </a:prstGeom>
          <a:solidFill>
            <a:srgbClr val="1A1A2E"/>
          </a:solidFill>
          <a:ln w="15240">
            <a:solidFill>
              <a:srgbClr val="E5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7673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51B23"/>
                </a:solidFill>
              </a:rPr>
              <a:t>DRIVER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27939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Recognized examples: Hamilton, Verstappen, Leclerc, Russell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3657600"/>
            <a:ext cx="5577840" cy="1234440"/>
          </a:xfrm>
          <a:prstGeom prst="rect">
            <a:avLst/>
          </a:prstGeom>
          <a:solidFill>
            <a:srgbClr val="1A1A2E"/>
          </a:solidFill>
          <a:ln w="15240">
            <a:solidFill>
              <a:srgbClr val="4E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37673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EA8DA"/>
                </a:solidFill>
              </a:rPr>
              <a:t>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427939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Recognized examples: Red Bull, McLaren, Ferrari, Mercedes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5074920"/>
            <a:ext cx="5577840" cy="1234440"/>
          </a:xfrm>
          <a:prstGeom prst="rect">
            <a:avLst/>
          </a:prstGeom>
          <a:solidFill>
            <a:srgbClr val="1A1A2E"/>
          </a:solidFill>
          <a:ln w="15240">
            <a:solidFill>
              <a:srgbClr val="FFC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1846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00B"/>
                </a:solidFill>
              </a:rPr>
              <a:t>TIRE_COMPOUND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69671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Recognized examples: soft, medium, hard, inters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5074920"/>
            <a:ext cx="5577840" cy="1234440"/>
          </a:xfrm>
          <a:prstGeom prst="rect">
            <a:avLst/>
          </a:prstGeom>
          <a:solidFill>
            <a:srgbClr val="1A1A2E"/>
          </a:solidFill>
          <a:ln w="15240">
            <a:solidFill>
              <a:srgbClr val="50F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51846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0FA7B"/>
                </a:solidFill>
              </a:rPr>
              <a:t>STRATEGY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569671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Recognized examples: box box, mode 7, strat 8, undercut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🧠  Phase 8 — Retrieval-Augmented Generation (RAG)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14400"/>
            <a:ext cx="2926080" cy="4572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058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C00B"/>
                </a:solidFill>
              </a:rPr>
              <a:t>Combining semantic search with prompting to build a Strategist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AA"/>
                </a:solidFill>
              </a:rPr>
              <a:t>12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71600"/>
            <a:ext cx="6858000" cy="1664208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81328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A8DA"/>
                </a:solidFill>
              </a:rPr>
              <a:t>What is RAG?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01952"/>
            <a:ext cx="658368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LLMs suffer from knowledge cutoff and hallucinate facts they were not trained on.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RAG solves this: retrieves target facts first, then generates a grounded answer.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Our system queries 5 structured F1 databases before formulating strategist prompts.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A prestigious modern NLP topic that solves the hallucination problem.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3200400"/>
            <a:ext cx="2816352" cy="749808"/>
          </a:xfrm>
          <a:prstGeom prst="rect">
            <a:avLst/>
          </a:prstGeom>
          <a:solidFill>
            <a:srgbClr val="1A1A2E"/>
          </a:solidFill>
          <a:ln w="16510">
            <a:solidFill>
              <a:srgbClr val="4EA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3310128"/>
            <a:ext cx="2816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EA8DA"/>
                </a:solidFill>
              </a:rPr>
              <a:t>1. User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333756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51B23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3200400"/>
            <a:ext cx="2816352" cy="749808"/>
          </a:xfrm>
          <a:prstGeom prst="rect">
            <a:avLst/>
          </a:prstGeom>
          <a:solidFill>
            <a:srgbClr val="1A1A2E"/>
          </a:solidFill>
          <a:ln w="16510">
            <a:solidFill>
              <a:srgbClr val="FFC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3310128"/>
            <a:ext cx="2816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0B"/>
                </a:solidFill>
              </a:rPr>
              <a:t>2. Search 5 DBs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333756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51B23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200400"/>
            <a:ext cx="2816352" cy="749808"/>
          </a:xfrm>
          <a:prstGeom prst="rect">
            <a:avLst/>
          </a:prstGeom>
          <a:solidFill>
            <a:srgbClr val="1A1A2E"/>
          </a:solidFill>
          <a:ln w="16510">
            <a:solidFill>
              <a:srgbClr val="FFC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310128"/>
            <a:ext cx="2816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00B"/>
                </a:solidFill>
              </a:rPr>
              <a:t>3. Build 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33756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51B23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64624" y="3200400"/>
            <a:ext cx="2816352" cy="749808"/>
          </a:xfrm>
          <a:prstGeom prst="rect">
            <a:avLst/>
          </a:prstGeom>
          <a:solidFill>
            <a:srgbClr val="1A1A2E"/>
          </a:solidFill>
          <a:ln w="16510">
            <a:solidFill>
              <a:srgbClr val="50F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64624" y="3310128"/>
            <a:ext cx="2816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0FA7B"/>
                </a:solidFill>
              </a:rPr>
              <a:t>4. Generate Answer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4133087"/>
            <a:ext cx="2240280" cy="1051560"/>
          </a:xfrm>
          <a:prstGeom prst="rect">
            <a:avLst/>
          </a:prstGeom>
          <a:solidFill>
            <a:srgbClr val="1A1A2E"/>
          </a:solidFill>
          <a:ln w="11430">
            <a:solidFill>
              <a:srgbClr val="FFC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0624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C00B"/>
                </a:solidFill>
              </a:rPr>
              <a:t>📻 Radio Corpus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9028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18,574 driver messages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06624" y="4133087"/>
            <a:ext cx="2240280" cy="1051560"/>
          </a:xfrm>
          <a:prstGeom prst="rect">
            <a:avLst/>
          </a:prstGeom>
          <a:solidFill>
            <a:srgbClr val="1A1A2E"/>
          </a:solidFill>
          <a:ln w="11430">
            <a:solidFill>
              <a:srgbClr val="FFC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6352" y="420624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C00B"/>
                </a:solidFill>
              </a:rPr>
              <a:t>👤 Team Profiles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6352" y="459028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Drivers &amp; car numbers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65776" y="4133087"/>
            <a:ext cx="2240280" cy="1051560"/>
          </a:xfrm>
          <a:prstGeom prst="rect">
            <a:avLst/>
          </a:prstGeom>
          <a:solidFill>
            <a:srgbClr val="1A1A2E"/>
          </a:solidFill>
          <a:ln w="11430">
            <a:solidFill>
              <a:srgbClr val="FFC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75504" y="420624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C00B"/>
                </a:solidFill>
              </a:rPr>
              <a:t>🏁 Race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75504" y="459028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Winners &amp; DNF retirements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24928" y="4133087"/>
            <a:ext cx="2240280" cy="1051560"/>
          </a:xfrm>
          <a:prstGeom prst="rect">
            <a:avLst/>
          </a:prstGeom>
          <a:solidFill>
            <a:srgbClr val="1A1A2E"/>
          </a:solidFill>
          <a:ln w="11430">
            <a:solidFill>
              <a:srgbClr val="FFC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34656" y="420624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C00B"/>
                </a:solidFill>
              </a:rPr>
              <a:t>⚙️  Tech Specs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4656" y="459028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Car dimensions (2025/26)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4133087"/>
            <a:ext cx="2240280" cy="1051560"/>
          </a:xfrm>
          <a:prstGeom prst="rect">
            <a:avLst/>
          </a:prstGeom>
          <a:solidFill>
            <a:srgbClr val="1A1A2E"/>
          </a:solidFill>
          <a:ln w="11430">
            <a:solidFill>
              <a:srgbClr val="FFC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93808" y="420624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C00B"/>
                </a:solidFill>
              </a:rPr>
              <a:t>📜 Regulations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459028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Sporting &amp; technical rules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9480" y="1371600"/>
            <a:ext cx="4572000" cy="3858768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1481328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0FA7B"/>
                </a:solidFill>
              </a:rPr>
              <a:t>Strategist Prompt 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1901952"/>
            <a:ext cx="4297680" cy="323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You are an F1 expert assistant.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Context retrieved: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  Radio: 'Box box, switch to soft.'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  Regulation: Min weight 768kg in 2026.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  Result: Winner — Lando Norris (Monaco GP)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Question: Who won Monaco and why?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  → Answer using ONLY the context above.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5349240"/>
            <a:ext cx="11494008" cy="1325880"/>
          </a:xfrm>
          <a:prstGeom prst="rect">
            <a:avLst/>
          </a:prstGeom>
          <a:solidFill>
            <a:srgbClr val="0A180A"/>
          </a:solidFill>
          <a:ln w="12700">
            <a:solidFill>
              <a:srgbClr val="50F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54406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0FA7B"/>
                </a:solidFill>
              </a:rPr>
              <a:t>Why it matters: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5806440"/>
            <a:ext cx="11109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RAG is the primary technique used by modern corporate AI (ChatGPT, Google Gemini) to query private data. Its inclusion demonstrates your capability to build modern, practical, production-level NLP apps.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💬  Interactive Chatbot &amp; Streamlit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14400"/>
            <a:ext cx="2926080" cy="4572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058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C00B"/>
                </a:solidFill>
              </a:rPr>
              <a:t>Deploying our NLP pipeline in an interactive, user-facing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AA"/>
                </a:solidFill>
              </a:rPr>
              <a:t>13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371600"/>
            <a:ext cx="5577840" cy="2377440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813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0B"/>
                </a:solidFill>
              </a:rPr>
              <a:t>Intent-Based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01952"/>
            <a:ext cx="530352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A rule-based chatbot interface inside Streamlit.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Routes queries based on matched intent words (14 categories).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Queries F1 driver line-ups, technical specs, and race results.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Includes smart fallback: if no keyword matches, it runs a TF-IDF cosine similarity search across the 18,574-message corpus.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5715000" cy="2377440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81328"/>
            <a:ext cx="5440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EA8DA"/>
                </a:solidFill>
              </a:rPr>
              <a:t>Interactive Dashboard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01952"/>
            <a:ext cx="544068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Dataset Explorer: Browse, search, and filter the raw radio logs.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Search Engine: Type queries and retrieve matches dynamically.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Sentiment Monitor: Dynamic sentiment charts broken down by driver.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▸  spaCy Analyzer: Input custom text to see live POS tags and entity matches.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3977639"/>
            <a:ext cx="11494008" cy="2286000"/>
          </a:xfrm>
          <a:prstGeom prst="rect">
            <a:avLst/>
          </a:prstGeom>
          <a:solidFill>
            <a:srgbClr val="1A1A2E"/>
          </a:solidFill>
          <a:ln w="15240">
            <a:solidFill>
              <a:srgbClr val="50F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4114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0FA7B"/>
                </a:solidFill>
              </a:rPr>
              <a:t>🖥️  Available Dashboard Modules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4663440"/>
            <a:ext cx="2148840" cy="1097280"/>
          </a:xfrm>
          <a:prstGeom prst="rect">
            <a:avLst/>
          </a:prstGeom>
          <a:solidFill>
            <a:srgbClr val="111128"/>
          </a:solidFill>
          <a:ln w="10160">
            <a:solidFill>
              <a:srgbClr val="50F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0FA7B"/>
                </a:solidFill>
              </a:rPr>
              <a:t>Tab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Overview &amp; Explorer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70632" y="4663440"/>
            <a:ext cx="2148840" cy="1097280"/>
          </a:xfrm>
          <a:prstGeom prst="rect">
            <a:avLst/>
          </a:prstGeom>
          <a:solidFill>
            <a:srgbClr val="111128"/>
          </a:solidFill>
          <a:ln w="10160">
            <a:solidFill>
              <a:srgbClr val="50F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4754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0FA7B"/>
                </a:solidFill>
              </a:rPr>
              <a:t>Tab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51663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TF-IDF Search 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10912" y="4663440"/>
            <a:ext cx="2148840" cy="1097280"/>
          </a:xfrm>
          <a:prstGeom prst="rect">
            <a:avLst/>
          </a:prstGeom>
          <a:solidFill>
            <a:srgbClr val="111128"/>
          </a:solidFill>
          <a:ln w="10160">
            <a:solidFill>
              <a:srgbClr val="50F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4754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0FA7B"/>
                </a:solidFill>
              </a:rPr>
              <a:t>Tab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51663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Sentiment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51192" y="4663440"/>
            <a:ext cx="2148840" cy="1097280"/>
          </a:xfrm>
          <a:prstGeom prst="rect">
            <a:avLst/>
          </a:prstGeom>
          <a:solidFill>
            <a:srgbClr val="111128"/>
          </a:solidFill>
          <a:ln w="10160">
            <a:solidFill>
              <a:srgbClr val="50F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4754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0FA7B"/>
                </a:solidFill>
              </a:rPr>
              <a:t>Tab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51663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spaCy NLP &amp; Custom NER Visualizer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91472" y="4663440"/>
            <a:ext cx="2148840" cy="1097280"/>
          </a:xfrm>
          <a:prstGeom prst="rect">
            <a:avLst/>
          </a:prstGeom>
          <a:solidFill>
            <a:srgbClr val="111128"/>
          </a:solidFill>
          <a:ln w="10160">
            <a:solidFill>
              <a:srgbClr val="50F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4754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0FA7B"/>
                </a:solidFill>
              </a:rPr>
              <a:t>Tab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51663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RAG Simulator &amp; Chatbot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9260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🏁  Project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14400"/>
            <a:ext cx="2926080" cy="4572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83112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AA"/>
                </a:solidFill>
              </a:rPr>
              <a:t>14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371600"/>
            <a:ext cx="7772400" cy="4937760"/>
          </a:xfrm>
          <a:prstGeom prst="rect">
            <a:avLst/>
          </a:prstGeom>
          <a:solidFill>
            <a:srgbClr val="1A1A2E"/>
          </a:solidFill>
          <a:ln w="10160">
            <a:solidFill>
              <a:srgbClr val="30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81328"/>
            <a:ext cx="7498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0B"/>
                </a:solidFill>
              </a:rPr>
              <a:t>What was achieved: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901952"/>
            <a:ext cx="7498080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✦  Collected 18,574 authentic F1 radio messages using BeautifulSoup.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✦  Created a clean NLP preprocessing pipeline (Tokenization, Stopwords, Lemmatization).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✦  Verified Zipf's Law and built a TF-IDF Search Engine from scratch.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✦  Built a custom F1 sentiment lexicon tailored to racing jargon.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✦  Trained three classic classifiers: Naive Bayes, Logistic Regression, and Linear SVM.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✦  Achieved 93.81% classification accuracy using the Linear SVM model.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✦  Trained a custom spaCy Named Entity Recognition (NER) model from scratch.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✦  Developed a Multi-Source Retrieval-Augmented Generation (RAG) system.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CCCCCC"/>
                </a:solidFill>
              </a:rPr>
              <a:t>✦  Deployed all features in a clean, interactive Streamlit dashboard.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66760" y="1371600"/>
            <a:ext cx="3474720" cy="3246120"/>
          </a:xfrm>
          <a:prstGeom prst="rect">
            <a:avLst/>
          </a:prstGeom>
          <a:solidFill>
            <a:srgbClr val="1A1A2E"/>
          </a:solidFill>
          <a:ln w="25400">
            <a:solidFill>
              <a:srgbClr val="E51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53619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1B23"/>
                </a:solidFill>
              </a:rPr>
              <a:t>Best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938528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Linear SVM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542032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51B23"/>
                </a:solidFill>
              </a:rPr>
              <a:t>93.81%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40156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</a:rPr>
              <a:t>accuracy on 18,574
messages (80/20 split)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4800600"/>
            <a:ext cx="3474720" cy="1508760"/>
          </a:xfrm>
          <a:prstGeom prst="rect">
            <a:avLst/>
          </a:prstGeom>
          <a:solidFill>
            <a:srgbClr val="0A0A1A"/>
          </a:solidFill>
          <a:ln w="15240">
            <a:solidFill>
              <a:srgbClr val="FFC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4892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00B"/>
                </a:solidFill>
              </a:rPr>
              <a:t>GitHub 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5303520"/>
            <a:ext cx="30175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iamshashwatsingh/
f1-nlp-analyzer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11704320" cy="73152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6528816"/>
            <a:ext cx="11704320" cy="73152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146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C00B"/>
                </a:solidFill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218688"/>
            <a:ext cx="5760720" cy="54864"/>
          </a:xfrm>
          <a:prstGeom prst="rect">
            <a:avLst/>
          </a:prstGeom>
          <a:solidFill>
            <a:srgbClr val="E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401568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CC"/>
                </a:solidFill>
              </a:rPr>
              <a:t>18,574 messages  ·  3 Grand Prix  ·  3 ML Models  ·  93.81% SVM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77056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CC"/>
                </a:solidFill>
              </a:rPr>
              <a:t>Custom NER  ·  Custom Sentiment  ·  RAG Pipeline  ·  Streamlit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2920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AA"/>
                </a:solidFill>
              </a:rPr>
              <a:t>Shashwat Singh  |  M.Sc. Machine Learning &amp; Data Analytics  |  Hochschule Aalen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