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74320"/>
            <a:ext cx="11548872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6510528"/>
            <a:ext cx="11548872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🏎️  F1 Team Radio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C00B"/>
                </a:solidFill>
              </a:rPr>
              <a:t>End-to-End Natural Language Processing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548640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AA"/>
                </a:solidFill>
              </a:rPr>
              <a:t>Student: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154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Shashwat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49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AA"/>
                </a:solidFill>
              </a:rPr>
              <a:t>Programme: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7490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M.Sc. Machine Learning &amp; Data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AA"/>
                </a:solidFill>
              </a:rPr>
              <a:t>Institution: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343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Hochschule Aalen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AA"/>
                </a:solidFill>
              </a:rPr>
              <a:t>Course: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937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Natural Language Processing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280160"/>
            <a:ext cx="3566160" cy="5029200"/>
          </a:xfrm>
          <a:prstGeom prst="rect">
            <a:avLst/>
          </a:prstGeom>
          <a:solidFill>
            <a:srgbClr val="1A1A2E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463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51B23"/>
                </a:solidFill>
              </a:rPr>
              <a:t>Project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18,574 real radio messages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4871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3 Grand Prix races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13 NLP Phases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62102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6 ML / DL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41879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Custom NER Trained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7548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Full RAG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53218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Streamlit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📋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503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What this presentation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1206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2578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1.  What is the Data?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2.  How We Collected It (Web Scraping)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3.  Data Extraction &amp; Cleaning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4.  Phase 2–5 : Vocabulary &amp; Vectors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5.  Phase 6   : Text Classification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6.  Phase 7   : Word Embeddings (CBOW)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5669280" cy="51206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34924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7.  Phase 8   : MLP Neural Network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8.  Phase 9   : RNN &amp; LSTM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9.  Phase 10  : spaCy Pipeline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10. Phase 11  : Custom NER Training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11. Phase 12  : Chatbot &amp; Text Generator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12. Phase 13  : RAG System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13. Final Results &amp; Benchmark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📡  The Data — What is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503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Real F1 team radio transcripts from 3 Grand Prix races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657600" cy="2103120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Barcelona 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Location:  Spain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219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🔄 Race Laps:  Lap 1–66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609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Messages:  ~6,200 messages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188720"/>
            <a:ext cx="3657600" cy="2103120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25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Monaco GP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Location:  Monaco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2219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🔄 Race Laps:  Lap 1–78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609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Messages:  ~5,800 messages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88720"/>
            <a:ext cx="3657600" cy="2103120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325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Canadian GP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Location:  Montreal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2219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🔄 Race Laps:  Lap 1–70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6609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Messages:  ~6,574 messages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2743200" cy="1234440"/>
          </a:xfrm>
          <a:prstGeom prst="rect">
            <a:avLst/>
          </a:prstGeom>
          <a:solidFill>
            <a:srgbClr val="1E1E3A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5661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51B23"/>
                </a:solidFill>
              </a:rPr>
              <a:t>18,574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Total Messages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520440"/>
            <a:ext cx="2743200" cy="1234440"/>
          </a:xfrm>
          <a:prstGeom prst="rect">
            <a:avLst/>
          </a:prstGeom>
          <a:solidFill>
            <a:srgbClr val="1E1E3A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5661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51B23"/>
                </a:solidFill>
              </a:rPr>
              <a:t>20+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Unique Drivers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20440"/>
            <a:ext cx="2743200" cy="1234440"/>
          </a:xfrm>
          <a:prstGeom prst="rect">
            <a:avLst/>
          </a:prstGeom>
          <a:solidFill>
            <a:srgbClr val="1E1E3A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5661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51B23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Grand Prix Races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520440"/>
            <a:ext cx="2743200" cy="1234440"/>
          </a:xfrm>
          <a:prstGeom prst="rect">
            <a:avLst/>
          </a:prstGeom>
          <a:solidFill>
            <a:srgbClr val="1E1E3A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35661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51B23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Message Categories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892040"/>
            <a:ext cx="11430000" cy="1600200"/>
          </a:xfrm>
          <a:prstGeom prst="rect">
            <a:avLst/>
          </a:prstGeom>
          <a:solidFill>
            <a:srgbClr val="121220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95604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00B"/>
                </a:solidFill>
              </a:rPr>
              <a:t>📻  Sample Radio Messages: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852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0FA7B"/>
                </a:solidFill>
              </a:rPr>
              <a:t>  Verstappen: "Box box, switch to soft."   |   Hamilton: "These tyres are done, I'm losing two seconds a lap."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7424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0FA7B"/>
                </a:solidFill>
              </a:rPr>
              <a:t>  Leclerc: "Gap to P2, what is the gap?"   |   Norris: "Copy. Mode 7 after sector 3."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🕷️  Phase 1 — Web Scraping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503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BeautifulSoup crawler on the AutoLAP radio archive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37744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robots.txt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179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Ethical check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653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76272"/>
            <a:ext cx="237744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219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/archive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List all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529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63824"/>
            <a:ext cx="237744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0954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/session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4930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Each race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8404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51376"/>
            <a:ext cx="237744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970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/driver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805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Per-driver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8280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38928"/>
            <a:ext cx="237744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1846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DataFrame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681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18,574 rows saved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1143000"/>
            <a:ext cx="8778240" cy="53492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1252728"/>
            <a:ext cx="8503920" cy="5166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robots.txt check — ethical scraping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r = requests.get(url_robots)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print(r.text)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Crawler: Archive → Session → Driver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base = 'https://transcripts.recursiveprojects.cloud'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archive = BeautifulSoup(requests.get(base+'/archive').text)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session_link in archive.find_all('a', href=True):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session = BeautifulSoup(requests.get(base + session_link['href']).text)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for driver_link in session.find_all('a', href=True):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page = BeautifulSoup(requests.get(base + driver_link['href']).text)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for msg in page.find_all('div', class_='message'):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records.append({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    'driver': driver_link.text,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    'message': msg.text.strip()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})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🧹  Data Extraction &amp; Cleaning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503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Building the clean corpus from raw HTML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029200" cy="2560320"/>
          </a:xfrm>
          <a:prstGeom prst="rect">
            <a:avLst/>
          </a:prstGeom>
          <a:solidFill>
            <a:srgbClr val="1A1A2E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DataFrame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driver_name   →  e.g. 'Max Verstappen'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grand_prix    →  e.g. '2026 Monaco GP'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677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lap           →  e.g. 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94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message_text  →  raw radio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clean_message →  lemmatized, no stopwords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category      →  Strategy / Position_Gap /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  sentiment_score → float (-2.0 to +2.0)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1143000"/>
            <a:ext cx="6217920" cy="406908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252728"/>
            <a:ext cx="5943600" cy="3886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Text cleaning pipeline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def clean_text(text):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text = str(text).lower()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text = re.sub(r'[^a-z\s]', '', 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doc = nlp(text)  # spaCy pipeline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tokens =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token.lemma_  # lemmatize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for token in doc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if not token.is_stop   # remove stopwords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and not token.is_punct # remove punctuation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and len(token.text) &gt;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return ' '.join(tokens)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df['clean_message'] = df['message_text'].apply(clean_text)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5029200" cy="26060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77640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✅ robots.txt verified before crawling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✅ Removed duplicates &amp; empty messages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✅ Lemmatized via spaCy en_core_web_sm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✅ Stopwords &amp; punctuation stripped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Phase 2 — Vocabulary, Zipf's Law &amp; Luhn's Cuts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Why this matters: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029200" cy="25603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7091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Zipf's Law: word freq ∝ 1/rank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Top word appears ~2× as often as #2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Luhn Low-Cut  → remove rare noise words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Luhn High-Cut → remove stopwords (the, is, a)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Result: clean, high-information vocabulary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097280"/>
            <a:ext cx="6217920" cy="475488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207008"/>
            <a:ext cx="5943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collections import Counter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import math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All words in the corpus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all_words = ' '.join(df['message_text']).lower().split()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freq = Counter(all_words).most_common()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Shannon Entropy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total = len(all_words)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H = -sum((c/total)*math.log2(c/total) for _,c in freq)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print(f'Shannon Entropy: {H:.3f} bits')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Luhn cuts (top 1% and bottom 5%)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high_cut = freq[int(len(freq)*0.01)][1]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low_cut  = freq[int(len(freq)*0.95)][1]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content_words = [w for w,c in freq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         if low_cut &lt;= c &lt;= high_cut]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TF-IDF Formula (built from scratch):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5029200" cy="1005840"/>
          </a:xfrm>
          <a:prstGeom prst="rect">
            <a:avLst/>
          </a:prstGeom>
          <a:solidFill>
            <a:srgbClr val="121220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451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TF(t,d)  =  count(t in d) / total_words(d)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IDF(t)   =  log( N / df(t)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03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00B"/>
                </a:solidFill>
              </a:rPr>
              <a:t>TF-IDF   =  TF × IDF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💾  Phase 3 — Sparse Matrices &amp; Memory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657600" cy="1737360"/>
          </a:xfrm>
          <a:prstGeom prst="rect">
            <a:avLst/>
          </a:prstGeom>
          <a:solidFill>
            <a:srgbClr val="1A1A2E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51B23"/>
                </a:solidFill>
              </a:rPr>
              <a:t>Dense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18,574 × 5,000 = 92M cells
~372 MB 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657600" cy="1737360"/>
          </a:xfrm>
          <a:prstGeom prst="rect">
            <a:avLst/>
          </a:prstGeom>
          <a:solidFill>
            <a:srgbClr val="1A1A2E"/>
          </a:solidFill>
          <a:ln w="190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A8DA"/>
                </a:solidFill>
              </a:rPr>
              <a:t>Sparse CSR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19072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Only ~276K non-zero values
~12 MB RAM  (30× savings)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657600" cy="17373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984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00B"/>
                </a:solidFill>
              </a:rPr>
              <a:t>CSC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719072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Same data, column-major
Faster feature selection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498079" cy="356616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18688"/>
            <a:ext cx="7223759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scipy.sparse import csr_matrix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sklearn.feature_extraction.text import TfidfVectorizer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tfidf = TfidfVectorizer(max_features=5000)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dense_mat = tfidf.fit_transform(df['clean_message'])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Convert to CSR (row-wise efficient)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csr_mat = dense_mat.tocsr()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csc_mat = dense_mat.tocsc()  # column-wise efficient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Benchmark memory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dense_mb = dense_mat.shape[0]*dense_mat.shape[1]*8/1e6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csr_mb   = (csr_mat.data.nbytes + csr_mat.indices.nbytes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+ csr_mat.indptr.nbytes) / 1e6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print(f'Dense: {dense_mb:.1f} MB')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print(f'CSR  : {csr_mb:.1f} MB')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print(f'Savings: {dense_mb/csr_mb:.1f}x')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3108960"/>
            <a:ext cx="3749039" cy="3566160"/>
          </a:xfrm>
          <a:prstGeom prst="rect">
            <a:avLst/>
          </a:prstGeom>
          <a:solidFill>
            <a:srgbClr val="1A1A2E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246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Key 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703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F1 messages are SHORT (~6 words)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507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→ Each doc uses only 0.1% of vocab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3982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→ Matrix is 99.9% zeros (sparse!)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74573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CSR uses 3 arrays to store data: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4406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data[ ]     — non-zero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7881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indices[ ]  — column positions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1356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indptr[ ]   — row start positions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🔤  Phase 4 — Tokenization, Stemming &amp; Lemmatization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8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377440" cy="658368"/>
          </a:xfrm>
          <a:prstGeom prst="rect">
            <a:avLst/>
          </a:prstGeom>
          <a:solidFill>
            <a:srgbClr val="222238"/>
          </a:solidFill>
          <a:ln w="6350">
            <a:solidFill>
              <a:srgbClr val="353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00B"/>
                </a:solidFill>
              </a:rPr>
              <a:t>Original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188720"/>
            <a:ext cx="8961120" cy="658368"/>
          </a:xfrm>
          <a:prstGeom prst="rect">
            <a:avLst/>
          </a:prstGeom>
          <a:solidFill>
            <a:srgbClr val="121222"/>
          </a:solidFill>
          <a:ln w="63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298448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"He is pushing on softs, tyres are degrading"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2377440" cy="658368"/>
          </a:xfrm>
          <a:prstGeom prst="rect">
            <a:avLst/>
          </a:prstGeom>
          <a:solidFill>
            <a:srgbClr val="1A1A2E"/>
          </a:solidFill>
          <a:ln w="6350">
            <a:solidFill>
              <a:srgbClr val="353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</a:rPr>
              <a:t>Tokenized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1993392"/>
            <a:ext cx="8961120" cy="658368"/>
          </a:xfrm>
          <a:prstGeom prst="rect">
            <a:avLst/>
          </a:prstGeom>
          <a:solidFill>
            <a:srgbClr val="121220"/>
          </a:solidFill>
          <a:ln w="63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1031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["He","is","pushing","on","softs","tyres","are","degrading"]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98064"/>
            <a:ext cx="2377440" cy="658368"/>
          </a:xfrm>
          <a:prstGeom prst="rect">
            <a:avLst/>
          </a:prstGeom>
          <a:solidFill>
            <a:srgbClr val="222238"/>
          </a:solidFill>
          <a:ln w="6350">
            <a:solidFill>
              <a:srgbClr val="353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077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</a:rPr>
              <a:t>Stemmed (Porter)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798064"/>
            <a:ext cx="8961120" cy="658368"/>
          </a:xfrm>
          <a:prstGeom prst="rect">
            <a:avLst/>
          </a:prstGeom>
          <a:solidFill>
            <a:srgbClr val="121222"/>
          </a:solidFill>
          <a:ln w="63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0779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["he","is","push","on","soft","tyre","are","degrad"]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02736"/>
            <a:ext cx="2377440" cy="658368"/>
          </a:xfrm>
          <a:prstGeom prst="rect">
            <a:avLst/>
          </a:prstGeom>
          <a:solidFill>
            <a:srgbClr val="1A1A2E"/>
          </a:solidFill>
          <a:ln w="6350">
            <a:solidFill>
              <a:srgbClr val="353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124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</a:rPr>
              <a:t>Lemmatized (spaCy)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602736"/>
            <a:ext cx="8961120" cy="658368"/>
          </a:xfrm>
          <a:prstGeom prst="rect">
            <a:avLst/>
          </a:prstGeom>
          <a:solidFill>
            <a:srgbClr val="121220"/>
          </a:solidFill>
          <a:ln w="63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712464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["he","be","push","on","soft","tyre","be","degrade"]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407408"/>
            <a:ext cx="2377440" cy="658368"/>
          </a:xfrm>
          <a:prstGeom prst="rect">
            <a:avLst/>
          </a:prstGeom>
          <a:solidFill>
            <a:srgbClr val="222238"/>
          </a:solidFill>
          <a:ln w="6350">
            <a:solidFill>
              <a:srgbClr val="353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1713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Cleaned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4407408"/>
            <a:ext cx="8961120" cy="658368"/>
          </a:xfrm>
          <a:prstGeom prst="rect">
            <a:avLst/>
          </a:prstGeom>
          <a:solidFill>
            <a:srgbClr val="121222"/>
          </a:solidFill>
          <a:ln w="63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4517136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0FA7B"/>
                </a:solidFill>
              </a:rPr>
              <a:t>["push","soft","tyre","degrade"]  ← final tokens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11430000" cy="14630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321808"/>
            <a:ext cx="111556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nltk.stem import PorterStemmer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nlp     = spacy.load('en_core_web_sm')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stemmer = PorterStemmer()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doc = nlp('He is pushing on softs')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token in doc: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print(f'{token.text:12} stem={stemmer.stem(token.text):10}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   lemma={token.lemma_:10} stop={token.is_stop}')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🔢  Phase 5 — Vectorization: BoW &amp; TF-IDF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9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657600" cy="1417320"/>
          </a:xfrm>
          <a:prstGeom prst="rect">
            <a:avLst/>
          </a:prstGeom>
          <a:solidFill>
            <a:srgbClr val="1A1A2E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51B23"/>
                </a:solidFill>
              </a:rPr>
              <a:t>One-Hot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6420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Binary, no freq info
1 col per driver 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657600" cy="1417320"/>
          </a:xfrm>
          <a:prstGeom prst="rect">
            <a:avLst/>
          </a:prstGeom>
          <a:solidFill>
            <a:srgbClr val="1A1A2E"/>
          </a:solidFill>
          <a:ln w="190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2618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A8DA"/>
                </a:solidFill>
              </a:rPr>
              <a:t>Bag of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66420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Word count per doc
1 col per vocab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657600" cy="141732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618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00B"/>
                </a:solidFill>
              </a:rPr>
              <a:t>TF-IDF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6420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Weighted by rarity
Best for classification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11430000" cy="384048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98648"/>
            <a:ext cx="111556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sklearn.feature_extraction.text import CountVectorizer, TfidfVectorizer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sklearn.preprocessing import LabelBinarizer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One-Hot (driver names)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lb = LabelBinarizer()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one_hot = lb.fit_transform(df['driver_name'])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Bag of Words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count_vec = CountVectorizer(max_features=1000)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bow_mat   = count_vec.fit_transform(df['clean_message'])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print('BoW shape:', bow_mat.shape)   # (18574, 1000)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TF-IDF (used for all classifiers)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tfidf_vec  = TfidfVectorizer(max_features=2500)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tfidf_mat  = tfidf_vec.fit_transform(df['clean_message'])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print('TF-IDF shape:', tfidf_mat.shape)  # (18574, 2500)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🤖  Phase 6 — Text Classification (NB · LogReg · SVM)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6949440" cy="548640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66751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sklearn.model_selection import train_test_split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sklearn.naive_bayes import MultinomialNB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sklearn.linear_model import LogisticRegression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sklearn.svm import SVC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sklearn.metrics import accuracy_score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X_train,X_test,y_train,y_test = train_test_split(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df['clean_message'], df['category'],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test_size=0.2, random_state=42, stratify=y)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tfidf_v = TfidfVectorizer(max_features=2500)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X_tr = tfidf_v.fit_transform(X_train)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X_te = tfidf_v.transform(X_test)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nb  = MultinomialNB().fit(X_tr, y_train)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lr  = LogisticRegression(max_iter=1000).fit(X_tr, y_train)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svm = SVC(kernel='linear').fit(X_tr, y_train)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print(accuracy_score(y_test, nb.predict(X_te)))   # 79.94%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print(accuracy_score(y_test, lr.predict(X_te)))   # 92.21%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print(accuracy_score(y_test, svm.predict(X_te)))  # 93.81% 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143000"/>
            <a:ext cx="4297680" cy="292608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00B"/>
                </a:solidFill>
              </a:rPr>
              <a:t>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7830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Naive Bayes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7830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CCCCC"/>
                </a:solidFill>
              </a:rPr>
              <a:t>79.94%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468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Logistic 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4688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4EA8DA"/>
                </a:solidFill>
              </a:rPr>
              <a:t>92.21%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Linear SVM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31546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51B23"/>
                </a:solidFill>
              </a:rPr>
              <a:t>93.81%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251960"/>
            <a:ext cx="4297680" cy="2377440"/>
          </a:xfrm>
          <a:prstGeom prst="rect">
            <a:avLst/>
          </a:prstGeom>
          <a:solidFill>
            <a:srgbClr val="1A1A2E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3708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A8DA"/>
                </a:solidFill>
              </a:rPr>
              <a:t>Message 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731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• Strategy  (box, strat, mode...)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51937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• Position_Gap  (gap, interval...)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561441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• Emotional  (wtf, no, why...)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035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• Technical  (everything else)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💬  Phase 6b — Custom F1 Sentiment Lexicon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Why a custom lexicon?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03520" cy="23774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9834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VADER scores "box box" as NEUTRAL — wrong!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F1 radio has domain-specific emotional cues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"p1" = race leader = very positive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"wtf" / "impossible" = extremely negative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Custom lexicon assigns F1-aware scores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069080"/>
            <a:ext cx="5303520" cy="26060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178808"/>
            <a:ext cx="502920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lexicon =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Positive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'p1': 2.0,  'won': 2.0,   'great': 1.5,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'push': 0.5, 'copy': 0.0, 'ok': 0.0,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Negative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'wtf': -2.0,  'problem': -1.0,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'slow': -0.8, 'why': -1.0, 'bad': -1.0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def analyze_sentiment(text):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score = 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for word in str(text).lower().split():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w = re.sub(r'[^a-zA-Z]', '', word)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score += lexicon.get(w, 0.0)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return score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df['sentiment_score'] = df['message_text'].apply(analyze_sentiment)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Most positive messages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df[df['sentiment_score'] &gt; 1.5][['driver_name','message_text']].head(3)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143000"/>
            <a:ext cx="5943600" cy="5440680"/>
          </a:xfrm>
          <a:prstGeom prst="rect">
            <a:avLst/>
          </a:prstGeom>
          <a:solidFill>
            <a:srgbClr val="1A1A2E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Score Examples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783080"/>
            <a:ext cx="777240" cy="594360"/>
          </a:xfrm>
          <a:prstGeom prst="rect">
            <a:avLst/>
          </a:prstGeom>
          <a:solidFill>
            <a:srgbClr val="202035"/>
          </a:solidFill>
          <a:ln w="127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8470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0FA7B"/>
                </a:solidFill>
              </a:rPr>
              <a:t>+2.0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874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"Yes yes yes! P1! WE WON!"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651760"/>
            <a:ext cx="777240" cy="594360"/>
          </a:xfrm>
          <a:prstGeom prst="rect">
            <a:avLst/>
          </a:prstGeom>
          <a:solidFill>
            <a:srgbClr val="202035"/>
          </a:solidFill>
          <a:ln w="12700">
            <a:solidFill>
              <a:srgbClr val="A0F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71576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0F0A0"/>
                </a:solidFill>
              </a:rPr>
              <a:t>+1.5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"Great lap, push push push!"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520440"/>
            <a:ext cx="777240" cy="594360"/>
          </a:xfrm>
          <a:prstGeom prst="rect">
            <a:avLst/>
          </a:prstGeom>
          <a:solidFill>
            <a:srgbClr val="20203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58444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CCCCC"/>
                </a:solidFill>
              </a:rPr>
              <a:t>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"Box box, switch to medium."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389120"/>
            <a:ext cx="777240" cy="594360"/>
          </a:xfrm>
          <a:prstGeom prst="rect">
            <a:avLst/>
          </a:prstGeom>
          <a:solidFill>
            <a:srgbClr val="202035"/>
          </a:solidFill>
          <a:ln w="12700">
            <a:solidFill>
              <a:srgbClr val="FFA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445312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A060"/>
                </a:solidFill>
              </a:rPr>
              <a:t>-1.0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480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"Problem with the tyres, slow."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5257800"/>
            <a:ext cx="777240" cy="594360"/>
          </a:xfrm>
          <a:prstGeom prst="rect">
            <a:avLst/>
          </a:prstGeom>
          <a:solidFill>
            <a:srgbClr val="202035"/>
          </a:solidFill>
          <a:ln w="1270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532180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51B23"/>
                </a:solidFill>
              </a:rPr>
              <a:t>-2.0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"WTF is going on?! Impossible!"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🧠  Phase 7 — CBOW Word Embeddings (PyTorch)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Why embeddings?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36192"/>
            <a:ext cx="5029200" cy="25603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47091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TF-IDF: 'box' and 'pit' = completely different dims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Embeddings: similar context → similar vector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50-dim dense vector per word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CBOW: predict centre word from 4 context words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▸  Cosine similarity: box ≈ pit ≈ 0.83 similarity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143000"/>
            <a:ext cx="6217920" cy="438912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252728"/>
            <a:ext cx="59436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class CBOWModel(nn.Module):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__init__(self, vocab_size, emb_dim):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super().__init__()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self.embeddings = nn.Embedding(vocab_size, emb_dim)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self.linear1 = nn.Linear(emb_dim, 128)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self.linear2 = nn.Linear(128, vocab_size)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forward(self, ctx):  # ctx: [batch, 4]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emb = self.embeddings(ctx)   # [batch, 4, 50]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out = torch.sum(emb, dim=1)  # [batch, 50]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out = torch.relu(self.linear1(out))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return torch.log_softmax(self.linear2(out), dim=1)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model = CBOWModel(vocab_size=5842, emb_dim=50)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optimizer = optim.Adam(model.parameters(), lr=0.001)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Train for 3 epochs on context-target pairs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251960"/>
            <a:ext cx="5029200" cy="2377440"/>
          </a:xfrm>
          <a:prstGeom prst="rect">
            <a:avLst/>
          </a:prstGeom>
          <a:solidFill>
            <a:srgbClr val="121220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343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EA8DA"/>
                </a:solidFill>
              </a:rPr>
              <a:t>Cosine Similarity Results (after training)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731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"box" ↔ "pit"    →  0.83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1846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"soft" ↔ "tyre"  →  0.79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96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"push" ↔ "go"    →  0.71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076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"gap" ↔ "behind" →  0.68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550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Visualised with t-SNE 2D plot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🔬  Phase 8 — MLP Neural Network Classifier (PyTorch)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13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120640" cy="777240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A8DA"/>
                </a:solidFill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801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2,500 TF-IDF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3852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48840"/>
            <a:ext cx="5120640" cy="777240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0370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Hidden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860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256 neurons + 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9443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80"/>
            <a:ext cx="5120640" cy="777240"/>
          </a:xfrm>
          <a:prstGeom prst="rect">
            <a:avLst/>
          </a:prstGeom>
          <a:solidFill>
            <a:srgbClr val="1A1A2E"/>
          </a:solidFill>
          <a:ln w="1524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954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Dropout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p=0.3 — prevents overfitting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95020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5120640" cy="777240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1538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B"/>
                </a:solidFill>
              </a:rPr>
              <a:t>Hidden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297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128 neurons + ReLU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9560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60"/>
            <a:ext cx="5120640" cy="777240"/>
          </a:xfrm>
          <a:prstGeom prst="rect">
            <a:avLst/>
          </a:prstGeom>
          <a:solidFill>
            <a:srgbClr val="1A1A2E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2122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0FA7B"/>
                </a:solidFill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303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4 classes + Softmax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23560" y="1143000"/>
            <a:ext cx="6217920" cy="46634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1252728"/>
            <a:ext cx="59436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class TextMLP(nn.Module):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__init__(self, in_dim, num_classes):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super().__init__()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self.net = nn.Sequential(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nn.Linear(in_dim, 256),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nn.ReLU(),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nn.Dropout(0.3),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nn.Linear(256, 128),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nn.ReLU(),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nn.Linear(128, num_classes)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forward(self, x):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return self.net(x)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model = TextMLP(2500, 4).to(device)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optimizer = optim.Adam(model.parameters(), lr=1e-3)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Trained for 15 epochs → 92.57% accuracy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5943600"/>
            <a:ext cx="6217920" cy="713232"/>
          </a:xfrm>
          <a:prstGeom prst="rect">
            <a:avLst/>
          </a:prstGeom>
          <a:solidFill>
            <a:srgbClr val="1A2A1A"/>
          </a:solidFill>
          <a:ln w="127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605332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0FA7B"/>
                </a:solidFill>
              </a:rPr>
              <a:t>✅  Final MLP Accuracy: 92.57%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🔁  Phase 9 — Sequence Models: RNN &amp; LSTM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577840" cy="2103120"/>
          </a:xfrm>
          <a:prstGeom prst="rect">
            <a:avLst/>
          </a:prstGeom>
          <a:solidFill>
            <a:srgbClr val="1A1A2E"/>
          </a:solidFill>
          <a:ln w="190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EA8DA"/>
                </a:solidFill>
              </a:rPr>
              <a:t>RNN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Processes tokens one-by-one.
Hidden state h carries context.
Suffers: vanishing gradients on long sequences.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43000"/>
            <a:ext cx="5577840" cy="210312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6187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C00B"/>
                </a:solidFill>
              </a:rPr>
              <a:t>LSTM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Adds 3 gates:
• Forget gate: what to erase
• Input gate:  what to add
• Output gate: what to expose
→ Handles long-range dependencies.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7772400" cy="32918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93008"/>
            <a:ext cx="749808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class RNNClassifier(nn.Module):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__init__(self, vocab_sz, emb_dim, hidden, classes):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super().__init__()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self.emb = nn.Embedding(vocab_sz, emb_dim, padding_idx=0)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self.rnn = nn.RNN(emb_dim, hidden, batch_first=True)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self.fc  = nn.Linear(hidden, classes)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forward(self, x):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_, h = self.rnn(self.emb(x))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return self.fc(h.squeeze(0))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class LSTMClassifier(nn.Module):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__init__(self, vocab_sz, emb_dim, hidden, classes):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super().__init__()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self.emb  = nn.Embedding(vocab_sz, emb_dim, padding_idx=0)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self.lstm = nn.LSTM(emb_dim, hidden, batch_first=True)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self.fc   = nn.Linear(hidden, classes)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def forward(self, x):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_, (h, _) = self.lstm(self.emb(x))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    return self.fc(h.squeeze(0))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383280"/>
            <a:ext cx="3474720" cy="3291840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520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0233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EA8DA"/>
                </a:solidFill>
              </a:rPr>
              <a:t>RNN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02336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4EA8DA"/>
                </a:solidFill>
              </a:rPr>
              <a:t>79.99%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8463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C00B"/>
                </a:solidFill>
              </a:rPr>
              <a:t>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48463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FFC00B"/>
                </a:solidFill>
              </a:rPr>
              <a:t>81.42%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56692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CCCCC"/>
                </a:solidFill>
              </a:rPr>
              <a:t>Note: Short F1 messages (~6 words)
limit RNN/LSTM advantage over SVM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🔍  Phase 10 — spaCy Pipeline &amp; Intent Matchers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15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10312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618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tokenizer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37160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188720"/>
            <a:ext cx="210312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2618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37160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188720"/>
            <a:ext cx="210312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2618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parser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37160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188720"/>
            <a:ext cx="210312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2618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1188720"/>
            <a:ext cx="2103120" cy="658368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26187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51B23"/>
                </a:solidFill>
              </a:rPr>
              <a:t>+custom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11680"/>
            <a:ext cx="7132320" cy="46634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121408"/>
            <a:ext cx="6858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spacy.matcher import Matcher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nlp = spacy.load('en_core_web_sm')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doc = nlp('Box this lap, check gap behind.')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Token inspection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token in doc: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print(f'{token.text:12} POS={token.pos_:8} lemma={token.lemma_}')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Intent Matcher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matcher = Matcher(nlp.vocab)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pit_pattern  = [{'LOWER': {'IN': ['box','pit','stop']}}]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gap_pattern  = [{'LOWER': 'gap'}, {'POS': 'ADP'}]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matcher.add('PIT_COMMAND', [pit_pattern])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matcher.add('GAP_REPORT',  [gap_pattern])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matches = matcher(doc)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match_id, start, end in matches: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print(nlp.vocab.strings[match_id], doc[start:end])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2011680"/>
            <a:ext cx="4114800" cy="466344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2148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Intent Categories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2651760"/>
            <a:ext cx="3749039" cy="777240"/>
          </a:xfrm>
          <a:prstGeom prst="rect">
            <a:avLst/>
          </a:prstGeom>
          <a:solidFill>
            <a:srgbClr val="202038"/>
          </a:solidFill>
          <a:ln w="63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27066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A8DA"/>
                </a:solidFill>
              </a:rPr>
              <a:t>INSTRUCTION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05409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CCCCC"/>
                </a:solidFill>
              </a:rPr>
              <a:t>box, pit, push, 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3611880"/>
            <a:ext cx="3749039" cy="777240"/>
          </a:xfrm>
          <a:prstGeom prst="rect">
            <a:avLst/>
          </a:prstGeom>
          <a:solidFill>
            <a:srgbClr val="202038"/>
          </a:solidFill>
          <a:ln w="63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36667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A8DA"/>
                </a:solidFill>
              </a:rPr>
              <a:t>POSITION_GAP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01421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CCCCC"/>
                </a:solidFill>
              </a:rPr>
              <a:t>gap, interval, behind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4572000"/>
            <a:ext cx="3749039" cy="777240"/>
          </a:xfrm>
          <a:prstGeom prst="rect">
            <a:avLst/>
          </a:prstGeom>
          <a:solidFill>
            <a:srgbClr val="202038"/>
          </a:solidFill>
          <a:ln w="63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462686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A8DA"/>
                </a:solidFill>
              </a:rPr>
              <a:t>TECHNICAL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9743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CCCCC"/>
                </a:solidFill>
              </a:rPr>
              <a:t>mode, engine, hydraulic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5532120"/>
            <a:ext cx="3749039" cy="777240"/>
          </a:xfrm>
          <a:prstGeom prst="rect">
            <a:avLst/>
          </a:prstGeom>
          <a:solidFill>
            <a:srgbClr val="202038"/>
          </a:solidFill>
          <a:ln w="63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558698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A8DA"/>
                </a:solidFill>
              </a:rPr>
              <a:t>GENERAL_COMMS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93445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CCCCC"/>
                </a:solidFill>
              </a:rPr>
              <a:t>everything else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🏷️  Phase 11 — Custom NER Model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16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57784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435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DRIVER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93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Verstappen, Hamilton, Leclerc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88720"/>
            <a:ext cx="557784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435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093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Red Bull, McLaren, Ferrari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57784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579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TIRE_COMPOUND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237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soft, medium, hard, inters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557784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1579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5237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box box, mode 7, strat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54680"/>
            <a:ext cx="11430000" cy="35204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64408"/>
            <a:ext cx="1115568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from spacy.training import Example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30 manually annotated F1 radio sentences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TRAIN_DATA =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('Max is on softs, Red Bull box box.',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{'entities': [(0,3,'DRIVER'),(13,18,'TIRE_COMPOUND'),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         (20,27,'TEAM'),(28,35,'STRATEGY')]}),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# ... 29 more examples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nlp_blank = spacy.blank('en')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ner = nlp_blank.add_pipe('ner')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_, ann in TRAIN_DATA: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for ent in ann['entities']: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ner.add_label(ent[2])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# Train for 30 epochs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for epoch in range(30):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for text, ann in TRAIN_DATA: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example = Example.from_dict(nlp_blank.make_doc(text), ann)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nlp_blank.update([example])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🤖  Phase 13 — Multi-Source RAG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65176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9844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1. User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3898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C00B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188720"/>
            <a:ext cx="265176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9844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2. Search 5 DBs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3898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C00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265176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29844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3. Build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898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C00B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188720"/>
            <a:ext cx="265176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29844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51B23"/>
                </a:solidFill>
              </a:rPr>
              <a:t>4. Generate Answer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03120"/>
            <a:ext cx="2194560" cy="868680"/>
          </a:xfrm>
          <a:prstGeom prst="rect">
            <a:avLst/>
          </a:prstGeom>
          <a:solidFill>
            <a:srgbClr val="101028"/>
          </a:solidFill>
          <a:ln w="1016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76272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📻 Radio Corpus
18,574 messages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24912" y="2103120"/>
            <a:ext cx="2194560" cy="868680"/>
          </a:xfrm>
          <a:prstGeom prst="rect">
            <a:avLst/>
          </a:prstGeom>
          <a:solidFill>
            <a:srgbClr val="101028"/>
          </a:solidFill>
          <a:ln w="1016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6352" y="2176272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👤 Team Profiles
Drivers &amp; lineups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4064" y="2103120"/>
            <a:ext cx="2194560" cy="868680"/>
          </a:xfrm>
          <a:prstGeom prst="rect">
            <a:avLst/>
          </a:prstGeom>
          <a:solidFill>
            <a:srgbClr val="101028"/>
          </a:solidFill>
          <a:ln w="1016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75504" y="2176272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🏁 Race Results
Winners &amp; DNFs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43216" y="2103120"/>
            <a:ext cx="2194560" cy="868680"/>
          </a:xfrm>
          <a:prstGeom prst="rect">
            <a:avLst/>
          </a:prstGeom>
          <a:solidFill>
            <a:srgbClr val="101028"/>
          </a:solidFill>
          <a:ln w="1016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176272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⚙️  Tech Specs
Car dimensions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02368" y="2103120"/>
            <a:ext cx="2194560" cy="868680"/>
          </a:xfrm>
          <a:prstGeom prst="rect">
            <a:avLst/>
          </a:prstGeom>
          <a:solidFill>
            <a:srgbClr val="101028"/>
          </a:solidFill>
          <a:ln w="1016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8" y="2176272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📜 Regulations
2025 &amp;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154680"/>
            <a:ext cx="11430000" cy="3520440"/>
          </a:xfrm>
          <a:prstGeom prst="rect">
            <a:avLst/>
          </a:prstGeom>
          <a:solidFill>
            <a:srgbClr val="121220"/>
          </a:solidFill>
          <a:ln w="1524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264408"/>
            <a:ext cx="1115568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def rag_answer(user_query):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1. Retrieve from all 5 databases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radio_hits = search_corpus(user_query, k=3)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reg_hits   = search_regulations(user_query, k=2)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tech_hits  = search_tech_specs(user_query, k=2)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2. Build context string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context = '\n'.join([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f'Radio: {r}' for r in radio_hits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] +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    f'Regulation: {r}' for r in reg_hits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3. Assemble prompt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prompt = f'''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You are an F1 expert. Using the context below,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answer: {user_query}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Context: {context}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0FA7B"/>
                </a:solidFill>
                <a:latin typeface="Courier New"/>
              </a:rPr>
              <a:t>    '''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888AA"/>
                </a:solidFill>
                <a:latin typeface="Courier New"/>
              </a:rPr>
              <a:t>    # 4. Simulate LLM response (or call real API)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D866"/>
                </a:solidFill>
                <a:latin typeface="Courier New"/>
              </a:rPr>
              <a:t>    return generate_answer(prompt)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Final Results — All 6 Models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399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Classical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0" y="1325880"/>
            <a:ext cx="846651" cy="475488"/>
          </a:xfrm>
          <a:prstGeom prst="rect">
            <a:avLst/>
          </a:prstGeom>
          <a:solidFill>
            <a:srgbClr val="FFC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1611" y="134416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C00B"/>
                </a:solidFill>
              </a:rPr>
              <a:t>79.94%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671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PyTorch RNN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2219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Deep Learning (Seq)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2148840"/>
            <a:ext cx="868472" cy="475488"/>
          </a:xfrm>
          <a:prstGeom prst="rect">
            <a:avLst/>
          </a:prstGeom>
          <a:solidFill>
            <a:srgbClr val="4EA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432" y="216712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A8DA"/>
                </a:solidFill>
              </a:rPr>
              <a:t>79.99%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00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PyTorch LSTM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0449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Deep Learning (Seq)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971800"/>
            <a:ext cx="1492550" cy="475488"/>
          </a:xfrm>
          <a:prstGeom prst="rect">
            <a:avLst/>
          </a:prstGeom>
          <a:solidFill>
            <a:srgbClr val="4EA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7510" y="29900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A8DA"/>
                </a:solidFill>
              </a:rPr>
              <a:t>81.42%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13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8679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Classical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3794760"/>
            <a:ext cx="6201502" cy="475488"/>
          </a:xfrm>
          <a:prstGeom prst="rect">
            <a:avLst/>
          </a:prstGeom>
          <a:solidFill>
            <a:srgbClr val="FFC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96462" y="38130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C00B"/>
                </a:solidFill>
              </a:rPr>
              <a:t>92.21%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63600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PyTorch MLP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6908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Deep Learning (FF)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4617720"/>
            <a:ext cx="6358612" cy="475488"/>
          </a:xfrm>
          <a:prstGeom prst="rect">
            <a:avLst/>
          </a:prstGeom>
          <a:solidFill>
            <a:srgbClr val="4EA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53572" y="463600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A8DA"/>
                </a:solidFill>
              </a:rPr>
              <a:t>92.57%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589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</a:rPr>
              <a:t>Linear SVM 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55138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Classical 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440680"/>
            <a:ext cx="6899771" cy="47548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294731" y="545896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1B23"/>
                </a:solidFill>
              </a:rPr>
              <a:t>93.81%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15000"/>
            <a:ext cx="11430000" cy="960120"/>
          </a:xfrm>
          <a:prstGeom prst="rect">
            <a:avLst/>
          </a:prstGeom>
          <a:solidFill>
            <a:srgbClr val="1A0A0A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77900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</a:rPr>
              <a:t>🔑  Key Insight: SVM outperforms LSTM/RNN because F1 messages are very short (~6 words). Sequence models need long text to leverage their context-memory advantage.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🏁  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2743200" cy="41148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6688"/>
                </a:solidFill>
              </a:rPr>
              <a:t>19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4523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🕷️  Built real-world scraper → 18,574 authentic F1 radio messages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📐  Implemented TF-IDF, CSR/CSC sparse matrices from scratch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🏷️  Trained custom spaCy NER to detect DRIVER / TEAM / TIRE / STRATEGY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🤖  Trained 6 classifiers: NB, LogReg, SVM, MLP, RNN, LSTM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🧠  Trained CBOW word embeddings; 'box' ≈ 'pit' in vector space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📜  Built full 5-database RAG pipeline with F1-aware prompt templates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💬  Custom F1 sentiment lexicon (standard tools misread radio jargon)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CCCCCC"/>
                </a:solidFill>
              </a:rPr>
              <a:t>  🖥️  Streamlit interactive dashboard with live NLP visualisations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143000"/>
            <a:ext cx="3474720" cy="5303520"/>
          </a:xfrm>
          <a:prstGeom prst="rect">
            <a:avLst/>
          </a:prstGeom>
          <a:solidFill>
            <a:srgbClr val="1A1A2E"/>
          </a:solidFill>
          <a:ln w="2540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325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51B23"/>
                </a:solidFill>
              </a:rPr>
              <a:t>Best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82880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Linear SVM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6888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51B23"/>
                </a:solidFill>
              </a:rPr>
              <a:t>93.81%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375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accuracy on 18,574
messages (80/20 split)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416052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4343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0916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iamshashwatsingh/
f1-nlp-analyzer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